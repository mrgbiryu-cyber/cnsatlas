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4"/>
  </p:sldMasterIdLst>
  <p:notesMasterIdLst>
    <p:notesMasterId r:id="rId8"/>
  </p:notesMasterIdLst>
  <p:sldIdLst>
    <p:sldId id="2890" r:id="rId5"/>
    <p:sldId id="2080110724" r:id="rId6"/>
    <p:sldId id="3311" r:id="rId7"/>
  </p:sldIdLst>
  <p:sldSz cx="12192000" cy="6858000"/>
  <p:notesSz cx="6858000" cy="9947275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HY헤드라인M" panose="02030600000101010101" pitchFamily="18" charset="-127"/>
      <p:regular r:id="rId13"/>
    </p:embeddedFont>
    <p:embeddedFont>
      <p:font typeface="LG Smart_H SemiBold" panose="020B0600000101010101" pitchFamily="50" charset="-127"/>
      <p:bold r:id="rId14"/>
    </p:embeddedFont>
    <p:embeddedFont>
      <p:font typeface="LG스마트체 Bold" panose="020B0600000101010101" pitchFamily="50" charset="-127"/>
      <p:bold r:id="rId15"/>
    </p:embeddedFont>
    <p:embeddedFont>
      <p:font typeface="LG스마트체 Light" panose="020B0600000101010101" pitchFamily="50" charset="-127"/>
      <p:regular r:id="rId16"/>
    </p:embeddedFont>
    <p:embeddedFont>
      <p:font typeface="LG스마트체 Regular" panose="020B0600000101010101" pitchFamily="50" charset="-127"/>
      <p:regular r:id="rId17"/>
    </p:embeddedFont>
    <p:embeddedFont>
      <p:font typeface="LG스마트체 SemiBold" panose="020B0600000101010101" pitchFamily="50" charset="-127"/>
      <p:bold r:id="rId18"/>
    </p:embeddedFont>
    <p:embeddedFont>
      <p:font typeface="LG스마트체2.0 Light" panose="020B0600000101010101" pitchFamily="50" charset="-127"/>
      <p:regular r:id="rId19"/>
    </p:embeddedFont>
    <p:embeddedFont>
      <p:font typeface="LG스마트체2.0 Regular" panose="020B0600000101010101" pitchFamily="50" charset="-127"/>
      <p:regular r:id="rId20"/>
    </p:embeddedFont>
    <p:embeddedFont>
      <p:font typeface="LG스마트체2.0 SemiBold" panose="020B0600000101010101" pitchFamily="50" charset="-127"/>
      <p:bold r:id="rId21"/>
    </p:embeddedFont>
    <p:embeddedFont>
      <p:font typeface="Quattrocento Sans" panose="020B0600000101010101" charset="0"/>
      <p:regular r:id="rId22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  <p:embeddedFont>
      <p:font typeface="Wingdings 2" panose="05020102010507070707" pitchFamily="18" charset="2"/>
      <p:regular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7" roundtripDataSignature="AMtx7mghtSH9fLOORIQu9XgUF0yZAmGHa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민경" initials="김" lastIdx="0" clrIdx="0">
    <p:extLst>
      <p:ext uri="{19B8F6BF-5375-455C-9EA6-DF929625EA0E}">
        <p15:presenceInfo xmlns:p15="http://schemas.microsoft.com/office/powerpoint/2012/main" userId="S-1-5-21-1323493871-3439424797-2235966176-4640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0000"/>
    <a:srgbClr val="E1DECB"/>
    <a:srgbClr val="C4BD97"/>
    <a:srgbClr val="D99694"/>
    <a:srgbClr val="BF9000"/>
    <a:srgbClr val="FFFFFF"/>
    <a:srgbClr val="A2D0CF"/>
    <a:srgbClr val="FF66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796DA4-9247-441D-BDD2-AC3B6C5E730A}">
  <a:tblStyle styleId="{89796DA4-9247-441D-BDD2-AC3B6C5E73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D8EB02-90DD-4E37-8A5A-336C04E9724D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61" autoAdjust="0"/>
    <p:restoredTop sz="96336" autoAdjust="0"/>
  </p:normalViewPr>
  <p:slideViewPr>
    <p:cSldViewPr snapToGrid="0" snapToObjects="1" showGuides="1">
      <p:cViewPr varScale="1">
        <p:scale>
          <a:sx n="113" d="100"/>
          <a:sy n="113" d="100"/>
        </p:scale>
        <p:origin x="912" y="96"/>
      </p:cViewPr>
      <p:guideLst>
        <p:guide orient="horz" pos="61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508"/>
    </p:cViewPr>
  </p:sorterViewPr>
  <p:notesViewPr>
    <p:cSldViewPr snapToGrid="0" snapToObjects="1" showGuides="1">
      <p:cViewPr varScale="1">
        <p:scale>
          <a:sx n="74" d="100"/>
          <a:sy n="74" d="100"/>
        </p:scale>
        <p:origin x="265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21" Type="http://schemas.openxmlformats.org/officeDocument/2006/relationships/font" Target="fonts/font13.fntdata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569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57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font" Target="fonts/font24.fntdata"/><Relationship Id="rId568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567" Type="http://customschemas.google.com/relationships/presentationmetadata" Target="metadata"/><Relationship Id="rId571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font" Target="fonts/font23.fntdata"/><Relationship Id="rId57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9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9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8185"/>
            <a:ext cx="2971800" cy="49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448526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47:notes"/>
          <p:cNvSpPr txBox="1">
            <a:spLocks noGrp="1"/>
          </p:cNvSpPr>
          <p:nvPr>
            <p:ph type="body" idx="1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0" name="Google Shape;194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0637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bile Definition t0" userDrawn="1">
  <p:cSld name="Mobile Definition t0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6"/>
          <p:cNvSpPr txBox="1">
            <a:spLocks noGrp="1"/>
          </p:cNvSpPr>
          <p:nvPr>
            <p:ph type="title"/>
          </p:nvPr>
        </p:nvSpPr>
        <p:spPr>
          <a:xfrm>
            <a:off x="397933" y="196307"/>
            <a:ext cx="11396134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54" name="Google Shape;54;p66"/>
          <p:cNvSpPr txBox="1"/>
          <p:nvPr/>
        </p:nvSpPr>
        <p:spPr>
          <a:xfrm>
            <a:off x="9275762" y="6586538"/>
            <a:ext cx="27432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00">
                <a:solidFill>
                  <a:srgbClr val="7F7F7F"/>
                </a:solidFill>
                <a:latin typeface="+mn-ea"/>
                <a:ea typeface="+mn-ea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56" name="Google Shape;56;p66"/>
          <p:cNvSpPr txBox="1">
            <a:spLocks noGrp="1"/>
          </p:cNvSpPr>
          <p:nvPr>
            <p:ph type="sldNum" idx="12"/>
          </p:nvPr>
        </p:nvSpPr>
        <p:spPr>
          <a:xfrm>
            <a:off x="9275762" y="6586538"/>
            <a:ext cx="27432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7F7F7F"/>
                </a:solidFill>
                <a:latin typeface="+mn-ea"/>
                <a:ea typeface="+mn-ea"/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7F7F7F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7F7F7F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7F7F7F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7F7F7F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7F7F7F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7F7F7F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7F7F7F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7F7F7F"/>
                </a:solidFill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57" name="Google Shape;57;p66"/>
          <p:cNvCxnSpPr/>
          <p:nvPr/>
        </p:nvCxnSpPr>
        <p:spPr>
          <a:xfrm>
            <a:off x="397933" y="520307"/>
            <a:ext cx="1138608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04432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7">
          <p15:clr>
            <a:srgbClr val="FBAE40"/>
          </p15:clr>
        </p15:guide>
        <p15:guide id="3" pos="7423">
          <p15:clr>
            <a:srgbClr val="FBAE40"/>
          </p15:clr>
        </p15:guide>
        <p15:guide id="4" orient="horz" pos="4042">
          <p15:clr>
            <a:srgbClr val="FBAE40"/>
          </p15:clr>
        </p15:guide>
        <p15:guide id="5" orient="horz" pos="323">
          <p15:clr>
            <a:srgbClr val="FBAE40"/>
          </p15:clr>
        </p15:guide>
        <p15:guide id="6" orient="horz" pos="459">
          <p15:clr>
            <a:srgbClr val="FBAE40"/>
          </p15:clr>
        </p15:guide>
        <p15:guide id="7" pos="438">
          <p15:clr>
            <a:srgbClr val="FBAE40"/>
          </p15:clr>
        </p15:guide>
        <p15:guide id="8" pos="7242">
          <p15:clr>
            <a:srgbClr val="FBAE40"/>
          </p15:clr>
        </p15:guide>
        <p15:guide id="9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bile Definition t1" preserve="1" userDrawn="1">
  <p:cSld name="1_Mobile Definition t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99C9CF4-CE75-A34A-AFE4-1C487A3B093E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12144" y="109589"/>
          <a:ext cx="11779819" cy="42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7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명</a:t>
                      </a: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70">
                <a:tc>
                  <a:txBody>
                    <a:bodyPr/>
                    <a:lstStyle/>
                    <a:p>
                      <a:pPr marL="0" marR="0" indent="0" algn="ctr" defTabSz="9143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화면경로</a:t>
                      </a: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A1FB08DB-8EFF-7842-A16D-AD4CE06D68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72742" y="124324"/>
            <a:ext cx="7634462" cy="180000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indent="0" algn="l">
              <a:buNone/>
              <a:defRPr sz="800" b="1" baseline="0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30F3A05F-6D09-7A4E-AD54-5528FAD628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72122" y="340224"/>
            <a:ext cx="7634462" cy="180000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indent="0" algn="l">
              <a:buNone/>
              <a:defRPr sz="800" b="0" baseline="0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4">
            <a:extLst>
              <a:ext uri="{FF2B5EF4-FFF2-40B4-BE49-F238E27FC236}">
                <a16:creationId xmlns:a16="http://schemas.microsoft.com/office/drawing/2014/main" id="{47725E5B-55E2-C841-A4EE-E5B9AE82B7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183958" y="340892"/>
            <a:ext cx="1544049" cy="180000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800" b="0" baseline="0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6DF181B6-A6EB-E246-93D0-57DBF282EEA1}"/>
              </a:ext>
            </a:extLst>
          </p:cNvPr>
          <p:cNvSpPr txBox="1">
            <a:spLocks/>
          </p:cNvSpPr>
          <p:nvPr userDrawn="1"/>
        </p:nvSpPr>
        <p:spPr>
          <a:xfrm>
            <a:off x="10858564" y="149502"/>
            <a:ext cx="226639" cy="113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900" b="1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fld id="{011C8FC1-4ABA-450D-9F32-EDF25D971632}" type="slidenum">
              <a:rPr kumimoji="1" lang="ko-KR" altLang="en-US" sz="740" smtClean="0">
                <a:solidFill>
                  <a:schemeClr val="tx1"/>
                </a:solidFill>
              </a:rPr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7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280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4042">
          <p15:clr>
            <a:srgbClr val="FBAE40"/>
          </p15:clr>
        </p15:guide>
        <p15:guide id="5" orient="horz" pos="323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pos="438">
          <p15:clr>
            <a:srgbClr val="FBAE40"/>
          </p15:clr>
        </p15:guide>
        <p15:guide id="8" pos="7242">
          <p15:clr>
            <a:srgbClr val="FBAE40"/>
          </p15:clr>
        </p15:guide>
        <p15:guide id="9" pos="533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bile Definition t3" userDrawn="1">
  <p:cSld name="Mobile Definition t3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35CA073-5AD3-4C48-BA75-039FF9DCF61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18346095"/>
              </p:ext>
            </p:extLst>
          </p:nvPr>
        </p:nvGraphicFramePr>
        <p:xfrm>
          <a:off x="397933" y="109589"/>
          <a:ext cx="11494029" cy="42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1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화면 명</a:t>
                      </a: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페이지</a:t>
                      </a: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70">
                <a:tc>
                  <a:txBody>
                    <a:bodyPr/>
                    <a:lstStyle/>
                    <a:p>
                      <a:pPr marL="0" marR="0" indent="0" algn="ctr" defTabSz="9143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화면경로</a:t>
                      </a: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화면</a:t>
                      </a:r>
                      <a:r>
                        <a:rPr lang="en-US" altLang="ko-KR" sz="8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ID</a:t>
                      </a:r>
                      <a:endParaRPr lang="ko-KR" altLang="en-US" sz="8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84402" marR="84402" marT="45690" marB="4569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728DEDB0-038E-7C46-80F4-1C69D7E11A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72742" y="124324"/>
            <a:ext cx="7634462" cy="180000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indent="0" algn="l">
              <a:buNone/>
              <a:defRPr sz="800" b="1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텍스트 개체 틀 4">
            <a:extLst>
              <a:ext uri="{FF2B5EF4-FFF2-40B4-BE49-F238E27FC236}">
                <a16:creationId xmlns:a16="http://schemas.microsoft.com/office/drawing/2014/main" id="{95A21698-DB69-FF43-97C9-176890FC9B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72122" y="340224"/>
            <a:ext cx="7634462" cy="180000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indent="0" algn="l">
              <a:buNone/>
              <a:defRPr sz="800" b="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3" name="텍스트 개체 틀 4">
            <a:extLst>
              <a:ext uri="{FF2B5EF4-FFF2-40B4-BE49-F238E27FC236}">
                <a16:creationId xmlns:a16="http://schemas.microsoft.com/office/drawing/2014/main" id="{DFB446F3-8176-1A4D-A36B-D5B9EFB07F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201375" y="340892"/>
            <a:ext cx="1692000" cy="180000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indent="0" algn="ctr">
              <a:buNone/>
              <a:defRPr sz="800" b="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600445BB-49F3-F347-9669-292CED3E9EF1}"/>
              </a:ext>
            </a:extLst>
          </p:cNvPr>
          <p:cNvSpPr txBox="1">
            <a:spLocks/>
          </p:cNvSpPr>
          <p:nvPr userDrawn="1"/>
        </p:nvSpPr>
        <p:spPr>
          <a:xfrm>
            <a:off x="10918716" y="149502"/>
            <a:ext cx="226639" cy="113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900" b="1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fld id="{011C8FC1-4ABA-450D-9F32-EDF25D971632}" type="slidenum">
              <a:rPr kumimoji="1" lang="ko-KR" altLang="en-US" sz="74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74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3994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257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4042">
          <p15:clr>
            <a:srgbClr val="FBAE40"/>
          </p15:clr>
        </p15:guide>
        <p15:guide id="6" orient="horz" pos="323">
          <p15:clr>
            <a:srgbClr val="FBAE40"/>
          </p15:clr>
        </p15:guide>
        <p15:guide id="7" orient="horz" pos="459">
          <p15:clr>
            <a:srgbClr val="FBAE40"/>
          </p15:clr>
        </p15:guide>
        <p15:guide id="8" pos="438">
          <p15:clr>
            <a:srgbClr val="FBAE40"/>
          </p15:clr>
        </p15:guide>
        <p15:guide id="9" pos="72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67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8" r:id="rId2"/>
    <p:sldLayoutId id="2147483718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339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339">
          <a:solidFill>
            <a:schemeClr val="tx1"/>
          </a:solidFill>
          <a:latin typeface="Calibri" panose="020F0502020204030204" pitchFamily="34" charset="0"/>
          <a:ea typeface="맑은 고딕" panose="020B0503020000020004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339">
          <a:solidFill>
            <a:schemeClr val="tx1"/>
          </a:solidFill>
          <a:latin typeface="Calibri" panose="020F0502020204030204" pitchFamily="34" charset="0"/>
          <a:ea typeface="맑은 고딕" panose="020B0503020000020004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339">
          <a:solidFill>
            <a:schemeClr val="tx1"/>
          </a:solidFill>
          <a:latin typeface="Calibri" panose="020F0502020204030204" pitchFamily="34" charset="0"/>
          <a:ea typeface="맑은 고딕" panose="020B0503020000020004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339">
          <a:solidFill>
            <a:schemeClr val="tx1"/>
          </a:solidFill>
          <a:latin typeface="Calibri" panose="020F0502020204030204" pitchFamily="34" charset="0"/>
          <a:ea typeface="맑은 고딕" panose="020B0503020000020004" pitchFamily="50" charset="-127"/>
        </a:defRPr>
      </a:lvl5pPr>
      <a:lvl6pPr marL="537053" algn="l" rtl="0" fontAlgn="base" latinLnBrk="1">
        <a:spcBef>
          <a:spcPct val="0"/>
        </a:spcBef>
        <a:spcAft>
          <a:spcPct val="0"/>
        </a:spcAft>
        <a:defRPr kumimoji="1" sz="2339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1074107" algn="l" rtl="0" fontAlgn="base" latinLnBrk="1">
        <a:spcBef>
          <a:spcPct val="0"/>
        </a:spcBef>
        <a:spcAft>
          <a:spcPct val="0"/>
        </a:spcAft>
        <a:defRPr kumimoji="1" sz="2339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611160" algn="l" rtl="0" fontAlgn="base" latinLnBrk="1">
        <a:spcBef>
          <a:spcPct val="0"/>
        </a:spcBef>
        <a:spcAft>
          <a:spcPct val="0"/>
        </a:spcAft>
        <a:defRPr kumimoji="1" sz="2339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2148214" algn="l" rtl="0" fontAlgn="base" latinLnBrk="1">
        <a:spcBef>
          <a:spcPct val="0"/>
        </a:spcBef>
        <a:spcAft>
          <a:spcPct val="0"/>
        </a:spcAft>
        <a:defRPr kumimoji="1" sz="2339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402502" indent="-402502" algn="l" rtl="0" eaLnBrk="0" fontAlgn="base" latinLnBrk="1" hangingPunct="0">
        <a:lnSpc>
          <a:spcPct val="120000"/>
        </a:lnSpc>
        <a:spcBef>
          <a:spcPct val="30000"/>
        </a:spcBef>
        <a:spcAft>
          <a:spcPct val="0"/>
        </a:spcAft>
        <a:buFont typeface="Wingdings 2" pitchFamily="18" charset="2"/>
        <a:buChar char="•"/>
        <a:tabLst>
          <a:tab pos="566630" algn="l"/>
        </a:tabLst>
        <a:defRPr kumimoji="1" sz="1723">
          <a:solidFill>
            <a:schemeClr val="tx1"/>
          </a:solidFill>
          <a:latin typeface="+mn-lt"/>
          <a:ea typeface="+mn-ea"/>
          <a:cs typeface="+mn-cs"/>
        </a:defRPr>
      </a:lvl1pPr>
      <a:lvl2pPr marL="566630" indent="-222744" algn="l" rtl="0" eaLnBrk="0" fontAlgn="base" latinLnBrk="1" hangingPunct="0">
        <a:spcBef>
          <a:spcPct val="20000"/>
        </a:spcBef>
        <a:spcAft>
          <a:spcPct val="0"/>
        </a:spcAft>
        <a:buChar char="–"/>
        <a:tabLst>
          <a:tab pos="566630" algn="l"/>
        </a:tabLst>
        <a:defRPr kumimoji="1" sz="32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014072" indent="-222744" algn="l" rtl="0" eaLnBrk="0" fontAlgn="base" latinLnBrk="1" hangingPunct="0">
        <a:spcBef>
          <a:spcPct val="20000"/>
        </a:spcBef>
        <a:spcAft>
          <a:spcPct val="0"/>
        </a:spcAft>
        <a:buChar char="•"/>
        <a:tabLst>
          <a:tab pos="566630" algn="l"/>
        </a:tabLst>
        <a:defRPr kumimoji="1" sz="2831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461513" indent="-222744" algn="l" rtl="0" eaLnBrk="0" fontAlgn="base" latinLnBrk="1" hangingPunct="0">
        <a:spcBef>
          <a:spcPct val="20000"/>
        </a:spcBef>
        <a:spcAft>
          <a:spcPct val="0"/>
        </a:spcAft>
        <a:buChar char="–"/>
        <a:tabLst>
          <a:tab pos="566630" algn="l"/>
        </a:tabLst>
        <a:defRPr kumimoji="1" sz="2339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15014" indent="-267684" algn="l" rtl="0" eaLnBrk="0" fontAlgn="base" latinLnBrk="1" hangingPunct="0">
        <a:spcBef>
          <a:spcPct val="20000"/>
        </a:spcBef>
        <a:spcAft>
          <a:spcPct val="0"/>
        </a:spcAft>
        <a:buChar char="»"/>
        <a:tabLst>
          <a:tab pos="566630" algn="l"/>
        </a:tabLst>
        <a:defRPr kumimoji="1" sz="2339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953794" indent="-268526" algn="l" rtl="0" fontAlgn="base" latinLnBrk="1">
        <a:spcBef>
          <a:spcPct val="20000"/>
        </a:spcBef>
        <a:spcAft>
          <a:spcPct val="0"/>
        </a:spcAft>
        <a:buChar char="»"/>
        <a:tabLst>
          <a:tab pos="566889" algn="l"/>
        </a:tabLst>
        <a:defRPr kumimoji="1" sz="2339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490847" indent="-268526" algn="l" rtl="0" fontAlgn="base" latinLnBrk="1">
        <a:spcBef>
          <a:spcPct val="20000"/>
        </a:spcBef>
        <a:spcAft>
          <a:spcPct val="0"/>
        </a:spcAft>
        <a:buChar char="»"/>
        <a:tabLst>
          <a:tab pos="566889" algn="l"/>
        </a:tabLst>
        <a:defRPr kumimoji="1" sz="2339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4027901" indent="-268526" algn="l" rtl="0" fontAlgn="base" latinLnBrk="1">
        <a:spcBef>
          <a:spcPct val="20000"/>
        </a:spcBef>
        <a:spcAft>
          <a:spcPct val="0"/>
        </a:spcAft>
        <a:buChar char="»"/>
        <a:tabLst>
          <a:tab pos="566889" algn="l"/>
        </a:tabLst>
        <a:defRPr kumimoji="1" sz="2339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564955" indent="-268526" algn="l" rtl="0" fontAlgn="base" latinLnBrk="1">
        <a:spcBef>
          <a:spcPct val="20000"/>
        </a:spcBef>
        <a:spcAft>
          <a:spcPct val="0"/>
        </a:spcAft>
        <a:buChar char="»"/>
        <a:tabLst>
          <a:tab pos="566889" algn="l"/>
        </a:tabLst>
        <a:defRPr kumimoji="1" sz="2339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1074107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1pPr>
      <a:lvl2pPr marL="537053" algn="l" defTabSz="1074107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2pPr>
      <a:lvl3pPr marL="1074107" algn="l" defTabSz="1074107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3pPr>
      <a:lvl4pPr marL="1611160" algn="l" defTabSz="1074107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4pPr>
      <a:lvl5pPr marL="2148214" algn="l" defTabSz="1074107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5pPr>
      <a:lvl6pPr marL="2685267" algn="l" defTabSz="1074107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6pPr>
      <a:lvl7pPr marL="3222321" algn="l" defTabSz="1074107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7pPr>
      <a:lvl8pPr marL="3759375" algn="l" defTabSz="1074107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8pPr>
      <a:lvl9pPr marL="4296427" algn="l" defTabSz="1074107" rtl="0" eaLnBrk="1" latinLnBrk="1" hangingPunct="1">
        <a:defRPr sz="20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일반제품 + </a:t>
            </a:r>
            <a:r>
              <a:rPr lang="ko-KR" altLang="ko-KR" dirty="0" err="1"/>
              <a:t>케어십</a:t>
            </a:r>
            <a:r>
              <a:rPr lang="ko-KR" altLang="ko-KR" dirty="0"/>
              <a:t> 신청에 따른 프로세스(유상 </a:t>
            </a:r>
            <a:r>
              <a:rPr lang="ko-KR" altLang="ko-KR" dirty="0" err="1"/>
              <a:t>케어십</a:t>
            </a:r>
            <a:r>
              <a:rPr lang="ko-KR" altLang="ko-KR" dirty="0"/>
              <a:t>)</a:t>
            </a:r>
            <a:endParaRPr lang="ko-KR" altLang="en-US" dirty="0"/>
          </a:p>
        </p:txBody>
      </p:sp>
      <p:sp>
        <p:nvSpPr>
          <p:cNvPr id="3" name="Google Shape;465;p15"/>
          <p:cNvSpPr/>
          <p:nvPr/>
        </p:nvSpPr>
        <p:spPr>
          <a:xfrm>
            <a:off x="1138100" y="876116"/>
            <a:ext cx="360000" cy="360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홈</a:t>
            </a:r>
            <a:endParaRPr/>
          </a:p>
        </p:txBody>
      </p:sp>
      <p:sp>
        <p:nvSpPr>
          <p:cNvPr id="4" name="Google Shape;466;p15"/>
          <p:cNvSpPr/>
          <p:nvPr/>
        </p:nvSpPr>
        <p:spPr>
          <a:xfrm>
            <a:off x="3396698" y="918894"/>
            <a:ext cx="846905" cy="26983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제품선택</a:t>
            </a:r>
            <a:endParaRPr sz="800" b="0" i="0" u="none" strike="noStrike" cap="none">
              <a:solidFill>
                <a:srgbClr val="0C0C0C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(PDP)</a:t>
            </a:r>
            <a:endParaRPr sz="800" b="0" i="0" u="none" strike="noStrike" cap="none">
              <a:solidFill>
                <a:srgbClr val="0C0C0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" name="Google Shape;467;p15"/>
          <p:cNvCxnSpPr/>
          <p:nvPr/>
        </p:nvCxnSpPr>
        <p:spPr>
          <a:xfrm>
            <a:off x="580102" y="1060755"/>
            <a:ext cx="504056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" name="Google Shape;468;p15"/>
          <p:cNvSpPr txBox="1"/>
          <p:nvPr/>
        </p:nvSpPr>
        <p:spPr>
          <a:xfrm>
            <a:off x="436236" y="836712"/>
            <a:ext cx="70182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</a:t>
            </a:r>
            <a:endParaRPr/>
          </a:p>
        </p:txBody>
      </p:sp>
      <p:cxnSp>
        <p:nvCxnSpPr>
          <p:cNvPr id="7" name="Google Shape;469;p15"/>
          <p:cNvCxnSpPr>
            <a:stCxn id="3" idx="6"/>
            <a:endCxn id="10" idx="1"/>
          </p:cNvCxnSpPr>
          <p:nvPr/>
        </p:nvCxnSpPr>
        <p:spPr>
          <a:xfrm rot="10800000" flipH="1">
            <a:off x="1498100" y="1053716"/>
            <a:ext cx="286500" cy="24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" name="Google Shape;471;p15"/>
          <p:cNvCxnSpPr>
            <a:stCxn id="10" idx="3"/>
            <a:endCxn id="4" idx="1"/>
          </p:cNvCxnSpPr>
          <p:nvPr/>
        </p:nvCxnSpPr>
        <p:spPr>
          <a:xfrm>
            <a:off x="2631575" y="1053815"/>
            <a:ext cx="765000" cy="6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" name="Google Shape;472;p15"/>
          <p:cNvSpPr/>
          <p:nvPr/>
        </p:nvSpPr>
        <p:spPr>
          <a:xfrm>
            <a:off x="3136349" y="1421389"/>
            <a:ext cx="1368152" cy="304889"/>
          </a:xfrm>
          <a:prstGeom prst="flowChartDecision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470;p15"/>
          <p:cNvSpPr/>
          <p:nvPr/>
        </p:nvSpPr>
        <p:spPr>
          <a:xfrm>
            <a:off x="1784670" y="918895"/>
            <a:ext cx="846905" cy="26983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탐색</a:t>
            </a:r>
            <a:endParaRPr/>
          </a:p>
        </p:txBody>
      </p:sp>
      <p:sp>
        <p:nvSpPr>
          <p:cNvPr id="11" name="Google Shape;473;p15"/>
          <p:cNvSpPr/>
          <p:nvPr/>
        </p:nvSpPr>
        <p:spPr>
          <a:xfrm>
            <a:off x="3440431" y="1459236"/>
            <a:ext cx="80182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케어십 신청</a:t>
            </a:r>
            <a:endParaRPr/>
          </a:p>
        </p:txBody>
      </p:sp>
      <p:sp>
        <p:nvSpPr>
          <p:cNvPr id="12" name="Google Shape;474;p15"/>
          <p:cNvSpPr txBox="1"/>
          <p:nvPr/>
        </p:nvSpPr>
        <p:spPr>
          <a:xfrm>
            <a:off x="2995273" y="700801"/>
            <a:ext cx="109517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케어십 가능 제품</a:t>
            </a:r>
            <a:endParaRPr/>
          </a:p>
        </p:txBody>
      </p:sp>
      <p:cxnSp>
        <p:nvCxnSpPr>
          <p:cNvPr id="13" name="Google Shape;475;p15"/>
          <p:cNvCxnSpPr>
            <a:stCxn id="4" idx="2"/>
            <a:endCxn id="9" idx="0"/>
          </p:cNvCxnSpPr>
          <p:nvPr/>
        </p:nvCxnSpPr>
        <p:spPr>
          <a:xfrm rot="-5400000" flipH="1">
            <a:off x="3704050" y="1304833"/>
            <a:ext cx="232800" cy="600"/>
          </a:xfrm>
          <a:prstGeom prst="bentConnector3">
            <a:avLst>
              <a:gd name="adj1" fmla="val 49969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" name="Google Shape;476;p15"/>
          <p:cNvSpPr txBox="1"/>
          <p:nvPr/>
        </p:nvSpPr>
        <p:spPr>
          <a:xfrm>
            <a:off x="4378464" y="1364384"/>
            <a:ext cx="3593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YES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477;p15"/>
          <p:cNvSpPr txBox="1"/>
          <p:nvPr/>
        </p:nvSpPr>
        <p:spPr>
          <a:xfrm>
            <a:off x="2820521" y="1364164"/>
            <a:ext cx="3465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" name="Google Shape;478;p15"/>
          <p:cNvGrpSpPr/>
          <p:nvPr/>
        </p:nvGrpSpPr>
        <p:grpSpPr>
          <a:xfrm>
            <a:off x="1775483" y="1840002"/>
            <a:ext cx="1368152" cy="304889"/>
            <a:chOff x="1673027" y="1840002"/>
            <a:chExt cx="1368152" cy="304889"/>
          </a:xfrm>
        </p:grpSpPr>
        <p:sp>
          <p:nvSpPr>
            <p:cNvPr id="17" name="Google Shape;479;p15"/>
            <p:cNvSpPr/>
            <p:nvPr/>
          </p:nvSpPr>
          <p:spPr>
            <a:xfrm>
              <a:off x="1673027" y="1840002"/>
              <a:ext cx="1368152" cy="304889"/>
            </a:xfrm>
            <a:prstGeom prst="flowChartDecision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" name="Google Shape;480;p15"/>
            <p:cNvSpPr/>
            <p:nvPr/>
          </p:nvSpPr>
          <p:spPr>
            <a:xfrm>
              <a:off x="2026882" y="1877611"/>
              <a:ext cx="6463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900" b="1" dirty="0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구매하기</a:t>
              </a:r>
              <a:endParaRPr sz="900" b="1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9" name="Google Shape;481;p15"/>
          <p:cNvCxnSpPr>
            <a:stCxn id="9" idx="1"/>
            <a:endCxn id="17" idx="0"/>
          </p:cNvCxnSpPr>
          <p:nvPr/>
        </p:nvCxnSpPr>
        <p:spPr>
          <a:xfrm flipH="1">
            <a:off x="2459549" y="1573833"/>
            <a:ext cx="676800" cy="2661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" name="Google Shape;482;p15"/>
          <p:cNvGrpSpPr/>
          <p:nvPr/>
        </p:nvGrpSpPr>
        <p:grpSpPr>
          <a:xfrm>
            <a:off x="2588772" y="2606918"/>
            <a:ext cx="1368152" cy="304889"/>
            <a:chOff x="1673027" y="1840002"/>
            <a:chExt cx="1368152" cy="304889"/>
          </a:xfrm>
        </p:grpSpPr>
        <p:sp>
          <p:nvSpPr>
            <p:cNvPr id="21" name="Google Shape;483;p15"/>
            <p:cNvSpPr/>
            <p:nvPr/>
          </p:nvSpPr>
          <p:spPr>
            <a:xfrm>
              <a:off x="1673027" y="1840002"/>
              <a:ext cx="1368152" cy="304889"/>
            </a:xfrm>
            <a:prstGeom prst="flowChartDecision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" name="Google Shape;484;p15"/>
            <p:cNvSpPr/>
            <p:nvPr/>
          </p:nvSpPr>
          <p:spPr>
            <a:xfrm>
              <a:off x="1769603" y="1877611"/>
              <a:ext cx="1160895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로그인?비회원주문</a:t>
              </a:r>
              <a:endParaRPr/>
            </a:p>
          </p:txBody>
        </p:sp>
      </p:grpSp>
      <p:grpSp>
        <p:nvGrpSpPr>
          <p:cNvPr id="23" name="Google Shape;485;p15"/>
          <p:cNvGrpSpPr/>
          <p:nvPr/>
        </p:nvGrpSpPr>
        <p:grpSpPr>
          <a:xfrm>
            <a:off x="1782622" y="3119396"/>
            <a:ext cx="1152364" cy="2241452"/>
            <a:chOff x="1568437" y="3362643"/>
            <a:chExt cx="1152364" cy="2241452"/>
          </a:xfrm>
        </p:grpSpPr>
        <p:grpSp>
          <p:nvGrpSpPr>
            <p:cNvPr id="24" name="Google Shape;486;p15"/>
            <p:cNvGrpSpPr/>
            <p:nvPr/>
          </p:nvGrpSpPr>
          <p:grpSpPr>
            <a:xfrm>
              <a:off x="1568437" y="3362643"/>
              <a:ext cx="1152364" cy="2241452"/>
              <a:chOff x="5758903" y="5340235"/>
              <a:chExt cx="1152364" cy="2241452"/>
            </a:xfrm>
          </p:grpSpPr>
          <p:sp>
            <p:nvSpPr>
              <p:cNvPr id="31" name="Google Shape;487;p15"/>
              <p:cNvSpPr/>
              <p:nvPr/>
            </p:nvSpPr>
            <p:spPr>
              <a:xfrm>
                <a:off x="5761998" y="5340235"/>
                <a:ext cx="1149269" cy="269839"/>
              </a:xfrm>
              <a:prstGeom prst="rect">
                <a:avLst/>
              </a:prstGeom>
              <a:solidFill>
                <a:srgbClr val="DAEEF3"/>
              </a:solidFill>
              <a:ln w="9525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36000" tIns="45700" rIns="36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0C0C"/>
                  </a:buClr>
                  <a:buSzPts val="800"/>
                  <a:buFont typeface="Malgun Gothic"/>
                  <a:buNone/>
                </a:pPr>
                <a:r>
                  <a:rPr lang="ko-KR" sz="800" b="0" i="0" u="none" strike="noStrike" cap="none" dirty="0">
                    <a:solidFill>
                      <a:srgbClr val="0C0C0C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비회원 주문(</a:t>
                </a:r>
                <a:r>
                  <a:rPr lang="ko-KR" altLang="en-US" sz="800" b="0" i="0" u="none" strike="noStrike" cap="none" dirty="0">
                    <a:solidFill>
                      <a:srgbClr val="0C0C0C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구매하기</a:t>
                </a:r>
                <a:r>
                  <a:rPr lang="ko-KR" sz="800" b="0" i="0" u="none" strike="noStrike" cap="none" dirty="0">
                    <a:solidFill>
                      <a:srgbClr val="0C0C0C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)</a:t>
                </a:r>
                <a:endParaRPr sz="800" b="0" i="0" u="none" strike="noStrike" cap="none" dirty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2" name="Google Shape;488;p15"/>
              <p:cNvSpPr/>
              <p:nvPr/>
            </p:nvSpPr>
            <p:spPr>
              <a:xfrm>
                <a:off x="5758903" y="5614140"/>
                <a:ext cx="1152364" cy="1967547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36000" tIns="45700" rIns="36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Malgun Gothic"/>
                  <a:buNone/>
                </a:pPr>
                <a:endParaRPr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5" name="Google Shape;489;p15"/>
            <p:cNvSpPr/>
            <p:nvPr/>
          </p:nvSpPr>
          <p:spPr>
            <a:xfrm>
              <a:off x="1631808" y="4337775"/>
              <a:ext cx="1018168" cy="27325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주문자 정보</a:t>
              </a:r>
              <a:endParaRPr/>
            </a:p>
          </p:txBody>
        </p:sp>
        <p:sp>
          <p:nvSpPr>
            <p:cNvPr id="26" name="Google Shape;490;p15"/>
            <p:cNvSpPr/>
            <p:nvPr/>
          </p:nvSpPr>
          <p:spPr>
            <a:xfrm>
              <a:off x="1631808" y="4652567"/>
              <a:ext cx="1018168" cy="26528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주문제품 확인</a:t>
              </a: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" name="Google Shape;491;p15"/>
            <p:cNvSpPr/>
            <p:nvPr/>
          </p:nvSpPr>
          <p:spPr>
            <a:xfrm>
              <a:off x="1631808" y="4956274"/>
              <a:ext cx="1018168" cy="26528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PG 이용 결제</a:t>
              </a:r>
              <a:endParaRPr/>
            </a:p>
          </p:txBody>
        </p:sp>
        <p:sp>
          <p:nvSpPr>
            <p:cNvPr id="28" name="Google Shape;492;p15"/>
            <p:cNvSpPr/>
            <p:nvPr/>
          </p:nvSpPr>
          <p:spPr>
            <a:xfrm>
              <a:off x="1631808" y="5265454"/>
              <a:ext cx="1018168" cy="26528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주문완료</a:t>
              </a:r>
              <a:endParaRPr/>
            </a:p>
          </p:txBody>
        </p:sp>
        <p:sp>
          <p:nvSpPr>
            <p:cNvPr id="29" name="Google Shape;493;p15"/>
            <p:cNvSpPr/>
            <p:nvPr/>
          </p:nvSpPr>
          <p:spPr>
            <a:xfrm>
              <a:off x="1631808" y="3716174"/>
              <a:ext cx="1018168" cy="27325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비회원 주문 동의</a:t>
              </a:r>
              <a:endParaRPr/>
            </a:p>
          </p:txBody>
        </p:sp>
        <p:sp>
          <p:nvSpPr>
            <p:cNvPr id="30" name="Google Shape;494;p15"/>
            <p:cNvSpPr/>
            <p:nvPr/>
          </p:nvSpPr>
          <p:spPr>
            <a:xfrm>
              <a:off x="1633295" y="4024482"/>
              <a:ext cx="1007627" cy="263243"/>
            </a:xfrm>
            <a:prstGeom prst="rect">
              <a:avLst/>
            </a:prstGeom>
            <a:solidFill>
              <a:srgbClr val="C4BD97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휴대폰 본인 인증</a:t>
              </a: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" name="Google Shape;495;p15"/>
          <p:cNvSpPr txBox="1"/>
          <p:nvPr/>
        </p:nvSpPr>
        <p:spPr>
          <a:xfrm>
            <a:off x="1532601" y="1769889"/>
            <a:ext cx="3465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496;p15"/>
          <p:cNvSpPr txBox="1"/>
          <p:nvPr/>
        </p:nvSpPr>
        <p:spPr>
          <a:xfrm>
            <a:off x="3026542" y="1800782"/>
            <a:ext cx="3593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YES</a:t>
            </a:r>
            <a:endParaRPr sz="800" b="1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" name="Google Shape;497;p15"/>
          <p:cNvCxnSpPr>
            <a:stCxn id="21" idx="1"/>
            <a:endCxn id="31" idx="0"/>
          </p:cNvCxnSpPr>
          <p:nvPr/>
        </p:nvCxnSpPr>
        <p:spPr>
          <a:xfrm flipH="1">
            <a:off x="2360472" y="2759362"/>
            <a:ext cx="228300" cy="3600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" name="Google Shape;498;p15"/>
          <p:cNvSpPr txBox="1"/>
          <p:nvPr/>
        </p:nvSpPr>
        <p:spPr>
          <a:xfrm>
            <a:off x="2120826" y="2571733"/>
            <a:ext cx="6976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비회원주문</a:t>
            </a:r>
            <a:endParaRPr/>
          </a:p>
        </p:txBody>
      </p:sp>
      <p:sp>
        <p:nvSpPr>
          <p:cNvPr id="37" name="Google Shape;499;p15"/>
          <p:cNvSpPr/>
          <p:nvPr/>
        </p:nvSpPr>
        <p:spPr>
          <a:xfrm>
            <a:off x="3800975" y="3000224"/>
            <a:ext cx="1149269" cy="263243"/>
          </a:xfrm>
          <a:prstGeom prst="rect">
            <a:avLst/>
          </a:prstGeom>
          <a:solidFill>
            <a:srgbClr val="B2A0C7"/>
          </a:solidFill>
          <a:ln w="9525" cap="flat" cmpd="sng">
            <a:solidFill>
              <a:srgbClr val="5F497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멤버십 로그인</a:t>
            </a:r>
            <a:endParaRPr/>
          </a:p>
        </p:txBody>
      </p:sp>
      <p:grpSp>
        <p:nvGrpSpPr>
          <p:cNvPr id="38" name="Google Shape;500;p15"/>
          <p:cNvGrpSpPr/>
          <p:nvPr/>
        </p:nvGrpSpPr>
        <p:grpSpPr>
          <a:xfrm>
            <a:off x="3783433" y="3448433"/>
            <a:ext cx="1152364" cy="1582450"/>
            <a:chOff x="5758903" y="5340235"/>
            <a:chExt cx="1152364" cy="1582450"/>
          </a:xfrm>
        </p:grpSpPr>
        <p:sp>
          <p:nvSpPr>
            <p:cNvPr id="39" name="Google Shape;501;p15"/>
            <p:cNvSpPr/>
            <p:nvPr/>
          </p:nvSpPr>
          <p:spPr>
            <a:xfrm>
              <a:off x="5761998" y="5340235"/>
              <a:ext cx="1149269" cy="269839"/>
            </a:xfrm>
            <a:prstGeom prst="rect">
              <a:avLst/>
            </a:prstGeom>
            <a:solidFill>
              <a:srgbClr val="DAEEF3"/>
            </a:solidFill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 dirty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회원 </a:t>
              </a:r>
              <a:r>
                <a:rPr lang="ko-KR" altLang="en-US" sz="800" b="0" i="0" u="none" strike="noStrike" cap="none" dirty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구매하기</a:t>
              </a:r>
              <a:endParaRPr sz="800" b="0" i="0" u="none" strike="noStrike" cap="none" dirty="0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" name="Google Shape;502;p15"/>
            <p:cNvSpPr/>
            <p:nvPr/>
          </p:nvSpPr>
          <p:spPr>
            <a:xfrm>
              <a:off x="5758903" y="5614140"/>
              <a:ext cx="1152364" cy="130854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1" name="Google Shape;503;p15"/>
          <p:cNvSpPr/>
          <p:nvPr/>
        </p:nvSpPr>
        <p:spPr>
          <a:xfrm>
            <a:off x="3846804" y="3753610"/>
            <a:ext cx="1018168" cy="2732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주문자 정보</a:t>
            </a:r>
            <a:endParaRPr/>
          </a:p>
        </p:txBody>
      </p:sp>
      <p:sp>
        <p:nvSpPr>
          <p:cNvPr id="42" name="Google Shape;504;p15"/>
          <p:cNvSpPr/>
          <p:nvPr/>
        </p:nvSpPr>
        <p:spPr>
          <a:xfrm>
            <a:off x="3846804" y="4068402"/>
            <a:ext cx="1018168" cy="26528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주문제품 확인</a:t>
            </a:r>
            <a:endParaRPr sz="800" b="0" i="0" u="none" strike="noStrike" cap="none">
              <a:solidFill>
                <a:srgbClr val="0C0C0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505;p15"/>
          <p:cNvSpPr/>
          <p:nvPr/>
        </p:nvSpPr>
        <p:spPr>
          <a:xfrm>
            <a:off x="3846804" y="4372109"/>
            <a:ext cx="1018168" cy="26528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PG 이용 결제</a:t>
            </a:r>
            <a:endParaRPr/>
          </a:p>
        </p:txBody>
      </p:sp>
      <p:sp>
        <p:nvSpPr>
          <p:cNvPr id="44" name="Google Shape;506;p15"/>
          <p:cNvSpPr/>
          <p:nvPr/>
        </p:nvSpPr>
        <p:spPr>
          <a:xfrm>
            <a:off x="3846804" y="4681289"/>
            <a:ext cx="1018168" cy="26528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주문완료</a:t>
            </a:r>
            <a:endParaRPr/>
          </a:p>
        </p:txBody>
      </p:sp>
      <p:cxnSp>
        <p:nvCxnSpPr>
          <p:cNvPr id="45" name="Google Shape;507;p15"/>
          <p:cNvCxnSpPr>
            <a:stCxn id="21" idx="3"/>
            <a:endCxn id="37" idx="0"/>
          </p:cNvCxnSpPr>
          <p:nvPr/>
        </p:nvCxnSpPr>
        <p:spPr>
          <a:xfrm>
            <a:off x="3956924" y="2759362"/>
            <a:ext cx="418800" cy="240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" name="Google Shape;508;p15"/>
          <p:cNvCxnSpPr>
            <a:stCxn id="37" idx="2"/>
            <a:endCxn id="39" idx="0"/>
          </p:cNvCxnSpPr>
          <p:nvPr/>
        </p:nvCxnSpPr>
        <p:spPr>
          <a:xfrm rot="5400000">
            <a:off x="4275860" y="3348817"/>
            <a:ext cx="185100" cy="14400"/>
          </a:xfrm>
          <a:prstGeom prst="bentConnector3">
            <a:avLst>
              <a:gd name="adj1" fmla="val 49964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" name="Google Shape;509;p15"/>
          <p:cNvSpPr txBox="1"/>
          <p:nvPr/>
        </p:nvSpPr>
        <p:spPr>
          <a:xfrm>
            <a:off x="3888070" y="2571733"/>
            <a:ext cx="73449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로그인</a:t>
            </a:r>
            <a:endParaRPr/>
          </a:p>
        </p:txBody>
      </p:sp>
      <p:sp>
        <p:nvSpPr>
          <p:cNvPr id="48" name="Google Shape;510;p15"/>
          <p:cNvSpPr txBox="1"/>
          <p:nvPr/>
        </p:nvSpPr>
        <p:spPr>
          <a:xfrm>
            <a:off x="4336317" y="3253586"/>
            <a:ext cx="8739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성공 시</a:t>
            </a:r>
            <a:endParaRPr/>
          </a:p>
        </p:txBody>
      </p:sp>
      <p:grpSp>
        <p:nvGrpSpPr>
          <p:cNvPr id="49" name="Google Shape;511;p15"/>
          <p:cNvGrpSpPr/>
          <p:nvPr/>
        </p:nvGrpSpPr>
        <p:grpSpPr>
          <a:xfrm>
            <a:off x="516974" y="2599576"/>
            <a:ext cx="1152365" cy="641073"/>
            <a:chOff x="5758902" y="5376447"/>
            <a:chExt cx="1152365" cy="641073"/>
          </a:xfrm>
        </p:grpSpPr>
        <p:sp>
          <p:nvSpPr>
            <p:cNvPr id="50" name="Google Shape;512;p15"/>
            <p:cNvSpPr/>
            <p:nvPr/>
          </p:nvSpPr>
          <p:spPr>
            <a:xfrm>
              <a:off x="5761998" y="5376447"/>
              <a:ext cx="1149269" cy="269839"/>
            </a:xfrm>
            <a:prstGeom prst="rect">
              <a:avLst/>
            </a:prstGeom>
            <a:solidFill>
              <a:srgbClr val="DAEEF3"/>
            </a:solidFill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일반제품 장바구니</a:t>
              </a:r>
              <a:endParaRPr/>
            </a:p>
          </p:txBody>
        </p:sp>
        <p:grpSp>
          <p:nvGrpSpPr>
            <p:cNvPr id="51" name="Google Shape;513;p15"/>
            <p:cNvGrpSpPr/>
            <p:nvPr/>
          </p:nvGrpSpPr>
          <p:grpSpPr>
            <a:xfrm>
              <a:off x="5758902" y="5614141"/>
              <a:ext cx="1152364" cy="403379"/>
              <a:chOff x="6457013" y="1566237"/>
              <a:chExt cx="1093201" cy="268070"/>
            </a:xfrm>
          </p:grpSpPr>
          <p:sp>
            <p:nvSpPr>
              <p:cNvPr id="52" name="Google Shape;514;p15"/>
              <p:cNvSpPr/>
              <p:nvPr/>
            </p:nvSpPr>
            <p:spPr>
              <a:xfrm>
                <a:off x="6457013" y="1566237"/>
                <a:ext cx="1093201" cy="26807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36000" tIns="45700" rIns="36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Malgun Gothic"/>
                  <a:buNone/>
                </a:pPr>
                <a:endParaRPr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3" name="Google Shape;515;p15"/>
              <p:cNvSpPr/>
              <p:nvPr/>
            </p:nvSpPr>
            <p:spPr>
              <a:xfrm>
                <a:off x="6517976" y="1610278"/>
                <a:ext cx="965895" cy="18159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36000" tIns="45700" rIns="36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0C0C"/>
                  </a:buClr>
                  <a:buSzPts val="800"/>
                  <a:buFont typeface="Malgun Gothic"/>
                  <a:buNone/>
                </a:pPr>
                <a:r>
                  <a:rPr lang="ko-KR" sz="800" b="0" i="0" u="none" strike="noStrike" cap="none">
                    <a:solidFill>
                      <a:srgbClr val="0C0C0C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제품 추가</a:t>
                </a:r>
                <a:endParaRPr/>
              </a:p>
            </p:txBody>
          </p:sp>
        </p:grpSp>
      </p:grpSp>
      <p:cxnSp>
        <p:nvCxnSpPr>
          <p:cNvPr id="54" name="Google Shape;516;p15"/>
          <p:cNvCxnSpPr>
            <a:stCxn id="17" idx="1"/>
            <a:endCxn id="50" idx="0"/>
          </p:cNvCxnSpPr>
          <p:nvPr/>
        </p:nvCxnSpPr>
        <p:spPr>
          <a:xfrm flipH="1">
            <a:off x="1094783" y="1992446"/>
            <a:ext cx="680700" cy="6072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" name="Google Shape;517;p15"/>
          <p:cNvSpPr/>
          <p:nvPr/>
        </p:nvSpPr>
        <p:spPr>
          <a:xfrm>
            <a:off x="6622966" y="1812261"/>
            <a:ext cx="965895" cy="26983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케어십 요금 표시</a:t>
            </a:r>
            <a:endParaRPr/>
          </a:p>
        </p:txBody>
      </p:sp>
      <p:cxnSp>
        <p:nvCxnSpPr>
          <p:cNvPr id="56" name="Google Shape;518;p15"/>
          <p:cNvCxnSpPr>
            <a:stCxn id="9" idx="3"/>
            <a:endCxn id="55" idx="0"/>
          </p:cNvCxnSpPr>
          <p:nvPr/>
        </p:nvCxnSpPr>
        <p:spPr>
          <a:xfrm>
            <a:off x="4504501" y="1573833"/>
            <a:ext cx="2601300" cy="2385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7" name="Google Shape;519;p15"/>
          <p:cNvGrpSpPr/>
          <p:nvPr/>
        </p:nvGrpSpPr>
        <p:grpSpPr>
          <a:xfrm>
            <a:off x="6419906" y="2291632"/>
            <a:ext cx="1368152" cy="304889"/>
            <a:chOff x="1673027" y="1840002"/>
            <a:chExt cx="1368152" cy="304889"/>
          </a:xfrm>
        </p:grpSpPr>
        <p:sp>
          <p:nvSpPr>
            <p:cNvPr id="58" name="Google Shape;520;p15"/>
            <p:cNvSpPr/>
            <p:nvPr/>
          </p:nvSpPr>
          <p:spPr>
            <a:xfrm>
              <a:off x="1673027" y="1840002"/>
              <a:ext cx="1368152" cy="304889"/>
            </a:xfrm>
            <a:prstGeom prst="flowChartDecision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" name="Google Shape;521;p15"/>
            <p:cNvSpPr/>
            <p:nvPr/>
          </p:nvSpPr>
          <p:spPr>
            <a:xfrm>
              <a:off x="2029289" y="1904770"/>
              <a:ext cx="64152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구매하기</a:t>
              </a:r>
              <a:r>
                <a:rPr lang="ko-KR" sz="800" b="1" dirty="0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?</a:t>
              </a:r>
              <a:endParaRPr sz="800" b="1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0" name="Google Shape;522;p15"/>
          <p:cNvCxnSpPr>
            <a:stCxn id="55" idx="2"/>
            <a:endCxn id="58" idx="0"/>
          </p:cNvCxnSpPr>
          <p:nvPr/>
        </p:nvCxnSpPr>
        <p:spPr>
          <a:xfrm rot="5400000">
            <a:off x="7000314" y="2185900"/>
            <a:ext cx="209400" cy="1800"/>
          </a:xfrm>
          <a:prstGeom prst="bentConnector3">
            <a:avLst>
              <a:gd name="adj1" fmla="val 50032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1" name="Google Shape;523;p15"/>
          <p:cNvGrpSpPr/>
          <p:nvPr/>
        </p:nvGrpSpPr>
        <p:grpSpPr>
          <a:xfrm>
            <a:off x="7026772" y="2967532"/>
            <a:ext cx="1368152" cy="304889"/>
            <a:chOff x="1673027" y="1840002"/>
            <a:chExt cx="1368152" cy="304889"/>
          </a:xfrm>
        </p:grpSpPr>
        <p:sp>
          <p:nvSpPr>
            <p:cNvPr id="62" name="Google Shape;524;p15"/>
            <p:cNvSpPr/>
            <p:nvPr/>
          </p:nvSpPr>
          <p:spPr>
            <a:xfrm>
              <a:off x="1673027" y="1840002"/>
              <a:ext cx="1368152" cy="304889"/>
            </a:xfrm>
            <a:prstGeom prst="flowChartDecision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" name="Google Shape;525;p15"/>
            <p:cNvSpPr/>
            <p:nvPr/>
          </p:nvSpPr>
          <p:spPr>
            <a:xfrm>
              <a:off x="2058144" y="1877611"/>
              <a:ext cx="583814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로그인?</a:t>
              </a:r>
              <a:endParaRPr sz="9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4" name="Google Shape;526;p15"/>
          <p:cNvGrpSpPr/>
          <p:nvPr/>
        </p:nvGrpSpPr>
        <p:grpSpPr>
          <a:xfrm>
            <a:off x="5271785" y="2968479"/>
            <a:ext cx="1152365" cy="641073"/>
            <a:chOff x="5758902" y="5376447"/>
            <a:chExt cx="1152365" cy="641073"/>
          </a:xfrm>
        </p:grpSpPr>
        <p:sp>
          <p:nvSpPr>
            <p:cNvPr id="65" name="Google Shape;527;p15"/>
            <p:cNvSpPr/>
            <p:nvPr/>
          </p:nvSpPr>
          <p:spPr>
            <a:xfrm>
              <a:off x="5761998" y="5376447"/>
              <a:ext cx="1149269" cy="269839"/>
            </a:xfrm>
            <a:prstGeom prst="rect">
              <a:avLst/>
            </a:prstGeom>
            <a:solidFill>
              <a:srgbClr val="EAF1DD"/>
            </a:soli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케어솔루션 장바구니</a:t>
              </a:r>
              <a:endParaRPr/>
            </a:p>
          </p:txBody>
        </p:sp>
        <p:grpSp>
          <p:nvGrpSpPr>
            <p:cNvPr id="66" name="Google Shape;528;p15"/>
            <p:cNvGrpSpPr/>
            <p:nvPr/>
          </p:nvGrpSpPr>
          <p:grpSpPr>
            <a:xfrm>
              <a:off x="5758902" y="5614141"/>
              <a:ext cx="1152364" cy="403379"/>
              <a:chOff x="6457013" y="1566237"/>
              <a:chExt cx="1093201" cy="268070"/>
            </a:xfrm>
          </p:grpSpPr>
          <p:sp>
            <p:nvSpPr>
              <p:cNvPr id="67" name="Google Shape;529;p15"/>
              <p:cNvSpPr/>
              <p:nvPr/>
            </p:nvSpPr>
            <p:spPr>
              <a:xfrm>
                <a:off x="6457013" y="1566237"/>
                <a:ext cx="1093201" cy="26807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36000" tIns="45700" rIns="36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Malgun Gothic"/>
                  <a:buNone/>
                </a:pPr>
                <a:endParaRPr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8" name="Google Shape;530;p15"/>
              <p:cNvSpPr/>
              <p:nvPr/>
            </p:nvSpPr>
            <p:spPr>
              <a:xfrm>
                <a:off x="6517976" y="1610278"/>
                <a:ext cx="965895" cy="18159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36000" tIns="45700" rIns="36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0C0C"/>
                  </a:buClr>
                  <a:buSzPts val="800"/>
                  <a:buFont typeface="Malgun Gothic"/>
                  <a:buNone/>
                </a:pPr>
                <a:r>
                  <a:rPr lang="ko-KR" sz="800" b="0" i="0" u="none" strike="noStrike" cap="none">
                    <a:solidFill>
                      <a:srgbClr val="0C0C0C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케어십 제품 추가</a:t>
                </a:r>
                <a:endParaRPr/>
              </a:p>
            </p:txBody>
          </p:sp>
        </p:grpSp>
      </p:grpSp>
      <p:sp>
        <p:nvSpPr>
          <p:cNvPr id="69" name="Google Shape;531;p15"/>
          <p:cNvSpPr txBox="1"/>
          <p:nvPr/>
        </p:nvSpPr>
        <p:spPr>
          <a:xfrm>
            <a:off x="6087560" y="2248677"/>
            <a:ext cx="3465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0" name="Google Shape;532;p15"/>
          <p:cNvCxnSpPr>
            <a:stCxn id="58" idx="1"/>
            <a:endCxn id="65" idx="0"/>
          </p:cNvCxnSpPr>
          <p:nvPr/>
        </p:nvCxnSpPr>
        <p:spPr>
          <a:xfrm flipH="1">
            <a:off x="5849606" y="2444076"/>
            <a:ext cx="570300" cy="5244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" name="Google Shape;533;p15"/>
          <p:cNvCxnSpPr>
            <a:cxnSpLocks/>
            <a:stCxn id="58" idx="2"/>
            <a:endCxn id="62" idx="0"/>
          </p:cNvCxnSpPr>
          <p:nvPr/>
        </p:nvCxnSpPr>
        <p:spPr>
          <a:xfrm rot="16200000" flipH="1">
            <a:off x="7221910" y="2478593"/>
            <a:ext cx="371011" cy="60686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" name="Google Shape;536;p15"/>
          <p:cNvSpPr/>
          <p:nvPr/>
        </p:nvSpPr>
        <p:spPr>
          <a:xfrm>
            <a:off x="6561579" y="3482935"/>
            <a:ext cx="1149269" cy="263243"/>
          </a:xfrm>
          <a:prstGeom prst="rect">
            <a:avLst/>
          </a:prstGeom>
          <a:solidFill>
            <a:srgbClr val="B2A0C7"/>
          </a:solidFill>
          <a:ln w="9525" cap="flat" cmpd="sng">
            <a:solidFill>
              <a:srgbClr val="5F497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멤버십 로그인</a:t>
            </a:r>
            <a:endParaRPr/>
          </a:p>
        </p:txBody>
      </p:sp>
      <p:cxnSp>
        <p:nvCxnSpPr>
          <p:cNvPr id="74" name="Google Shape;537;p15"/>
          <p:cNvCxnSpPr>
            <a:stCxn id="62" idx="2"/>
            <a:endCxn id="73" idx="0"/>
          </p:cNvCxnSpPr>
          <p:nvPr/>
        </p:nvCxnSpPr>
        <p:spPr>
          <a:xfrm rot="5400000">
            <a:off x="7318298" y="3090471"/>
            <a:ext cx="210600" cy="574500"/>
          </a:xfrm>
          <a:prstGeom prst="bentConnector3">
            <a:avLst>
              <a:gd name="adj1" fmla="val 4998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5" name="Google Shape;538;p15"/>
          <p:cNvCxnSpPr>
            <a:stCxn id="62" idx="3"/>
          </p:cNvCxnSpPr>
          <p:nvPr/>
        </p:nvCxnSpPr>
        <p:spPr>
          <a:xfrm>
            <a:off x="8394924" y="3119976"/>
            <a:ext cx="165000" cy="9024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6" name="Google Shape;539;p15"/>
          <p:cNvSpPr txBox="1"/>
          <p:nvPr/>
        </p:nvSpPr>
        <p:spPr>
          <a:xfrm>
            <a:off x="7246898" y="3164722"/>
            <a:ext cx="3465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540;p15"/>
          <p:cNvSpPr txBox="1"/>
          <p:nvPr/>
        </p:nvSpPr>
        <p:spPr>
          <a:xfrm>
            <a:off x="8282261" y="3069070"/>
            <a:ext cx="3593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YES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8" name="Google Shape;541;p15"/>
          <p:cNvCxnSpPr>
            <a:stCxn id="73" idx="2"/>
          </p:cNvCxnSpPr>
          <p:nvPr/>
        </p:nvCxnSpPr>
        <p:spPr>
          <a:xfrm rot="-5400000" flipH="1">
            <a:off x="7728264" y="3154128"/>
            <a:ext cx="239700" cy="1423800"/>
          </a:xfrm>
          <a:prstGeom prst="bentConnector3">
            <a:avLst>
              <a:gd name="adj1" fmla="val 50029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79" name="Google Shape;542;p15"/>
          <p:cNvGrpSpPr/>
          <p:nvPr/>
        </p:nvGrpSpPr>
        <p:grpSpPr>
          <a:xfrm>
            <a:off x="7930818" y="4001274"/>
            <a:ext cx="1093201" cy="785077"/>
            <a:chOff x="6457013" y="1566237"/>
            <a:chExt cx="1093201" cy="785077"/>
          </a:xfrm>
        </p:grpSpPr>
        <p:sp>
          <p:nvSpPr>
            <p:cNvPr id="80" name="Google Shape;543;p15"/>
            <p:cNvSpPr/>
            <p:nvPr/>
          </p:nvSpPr>
          <p:spPr>
            <a:xfrm>
              <a:off x="6457013" y="1566237"/>
              <a:ext cx="1093201" cy="785077"/>
            </a:xfrm>
            <a:prstGeom prst="rect">
              <a:avLst/>
            </a:prstGeom>
            <a:solidFill>
              <a:srgbClr val="EAF1DD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" name="Google Shape;544;p15"/>
            <p:cNvSpPr/>
            <p:nvPr/>
          </p:nvSpPr>
          <p:spPr>
            <a:xfrm>
              <a:off x="6526685" y="1644987"/>
              <a:ext cx="965895" cy="26983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계약자정보</a:t>
              </a: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" name="Google Shape;545;p15"/>
            <p:cNvSpPr/>
            <p:nvPr/>
          </p:nvSpPr>
          <p:spPr>
            <a:xfrm>
              <a:off x="6526685" y="2010471"/>
              <a:ext cx="965895" cy="26983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93895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신용정보조회</a:t>
              </a: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(SAFE KEY발급)</a:t>
              </a: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3" name="Google Shape;546;p15"/>
          <p:cNvGrpSpPr/>
          <p:nvPr/>
        </p:nvGrpSpPr>
        <p:grpSpPr>
          <a:xfrm>
            <a:off x="7781795" y="5067472"/>
            <a:ext cx="1385495" cy="329567"/>
            <a:chOff x="5146349" y="4018461"/>
            <a:chExt cx="1385495" cy="329567"/>
          </a:xfrm>
        </p:grpSpPr>
        <p:sp>
          <p:nvSpPr>
            <p:cNvPr id="84" name="Google Shape;547;p15"/>
            <p:cNvSpPr/>
            <p:nvPr/>
          </p:nvSpPr>
          <p:spPr>
            <a:xfrm>
              <a:off x="5146349" y="4018461"/>
              <a:ext cx="1385495" cy="329567"/>
            </a:xfrm>
            <a:prstGeom prst="flowChartDecision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" name="Google Shape;548;p15"/>
            <p:cNvSpPr/>
            <p:nvPr/>
          </p:nvSpPr>
          <p:spPr>
            <a:xfrm>
              <a:off x="5604896" y="4066776"/>
              <a:ext cx="4683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성공?</a:t>
              </a:r>
              <a:endParaRPr sz="9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86" name="Google Shape;549;p15"/>
          <p:cNvCxnSpPr>
            <a:stCxn id="80" idx="2"/>
            <a:endCxn id="84" idx="0"/>
          </p:cNvCxnSpPr>
          <p:nvPr/>
        </p:nvCxnSpPr>
        <p:spPr>
          <a:xfrm rot="5400000">
            <a:off x="8335368" y="4925401"/>
            <a:ext cx="281100" cy="30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" name="Google Shape;550;p15"/>
          <p:cNvSpPr/>
          <p:nvPr/>
        </p:nvSpPr>
        <p:spPr>
          <a:xfrm>
            <a:off x="7992638" y="5906225"/>
            <a:ext cx="965895" cy="5815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청약실패 </a:t>
            </a:r>
            <a:endParaRPr sz="800" b="0" i="0" u="none" strike="noStrike" cap="none">
              <a:solidFill>
                <a:srgbClr val="0C0C0C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Malgun Gothic"/>
              <a:buNone/>
            </a:pP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주문 관련</a:t>
            </a:r>
            <a:b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안내</a:t>
            </a:r>
            <a:endParaRPr/>
          </a:p>
        </p:txBody>
      </p:sp>
      <p:cxnSp>
        <p:nvCxnSpPr>
          <p:cNvPr id="88" name="Google Shape;551;p15"/>
          <p:cNvCxnSpPr>
            <a:stCxn id="84" idx="2"/>
            <a:endCxn id="87" idx="0"/>
          </p:cNvCxnSpPr>
          <p:nvPr/>
        </p:nvCxnSpPr>
        <p:spPr>
          <a:xfrm rot="-5400000" flipH="1">
            <a:off x="8220442" y="5651139"/>
            <a:ext cx="509100" cy="9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9" name="Google Shape;552;p15"/>
          <p:cNvSpPr txBox="1"/>
          <p:nvPr/>
        </p:nvSpPr>
        <p:spPr>
          <a:xfrm>
            <a:off x="8423998" y="5395389"/>
            <a:ext cx="3898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</a:t>
            </a:r>
            <a:endParaRPr/>
          </a:p>
        </p:txBody>
      </p:sp>
      <p:cxnSp>
        <p:nvCxnSpPr>
          <p:cNvPr id="90" name="Google Shape;553;p15"/>
          <p:cNvCxnSpPr>
            <a:stCxn id="87" idx="3"/>
            <a:endCxn id="4" idx="3"/>
          </p:cNvCxnSpPr>
          <p:nvPr/>
        </p:nvCxnSpPr>
        <p:spPr>
          <a:xfrm rot="10800000">
            <a:off x="4243733" y="1053818"/>
            <a:ext cx="4714800" cy="5143200"/>
          </a:xfrm>
          <a:prstGeom prst="bentConnector3">
            <a:avLst>
              <a:gd name="adj1" fmla="val -696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1" name="Google Shape;554;p15"/>
          <p:cNvSpPr txBox="1"/>
          <p:nvPr/>
        </p:nvSpPr>
        <p:spPr>
          <a:xfrm>
            <a:off x="7749616" y="6466725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청약실패, 구매취소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(장바구니에 담기지 않음)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2" name="Google Shape;555;p15"/>
          <p:cNvGrpSpPr/>
          <p:nvPr/>
        </p:nvGrpSpPr>
        <p:grpSpPr>
          <a:xfrm>
            <a:off x="5660056" y="5371460"/>
            <a:ext cx="1385495" cy="329567"/>
            <a:chOff x="5146349" y="4018461"/>
            <a:chExt cx="1385495" cy="329567"/>
          </a:xfrm>
        </p:grpSpPr>
        <p:sp>
          <p:nvSpPr>
            <p:cNvPr id="93" name="Google Shape;556;p15"/>
            <p:cNvSpPr/>
            <p:nvPr/>
          </p:nvSpPr>
          <p:spPr>
            <a:xfrm>
              <a:off x="5146349" y="4018461"/>
              <a:ext cx="1385495" cy="329567"/>
            </a:xfrm>
            <a:prstGeom prst="flowChartDecision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" name="Google Shape;557;p15"/>
            <p:cNvSpPr/>
            <p:nvPr/>
          </p:nvSpPr>
          <p:spPr>
            <a:xfrm>
              <a:off x="5296319" y="4066776"/>
              <a:ext cx="10855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 가능여부?</a:t>
              </a:r>
              <a:endParaRPr sz="9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95" name="Google Shape;558;p15"/>
          <p:cNvCxnSpPr>
            <a:stCxn id="84" idx="1"/>
            <a:endCxn id="93" idx="0"/>
          </p:cNvCxnSpPr>
          <p:nvPr/>
        </p:nvCxnSpPr>
        <p:spPr>
          <a:xfrm flipH="1">
            <a:off x="6352895" y="5232255"/>
            <a:ext cx="1428900" cy="1392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96" name="Google Shape;559;p15"/>
          <p:cNvGrpSpPr/>
          <p:nvPr/>
        </p:nvGrpSpPr>
        <p:grpSpPr>
          <a:xfrm>
            <a:off x="4541483" y="5639892"/>
            <a:ext cx="1093201" cy="1128260"/>
            <a:chOff x="6457013" y="1566237"/>
            <a:chExt cx="1093201" cy="916078"/>
          </a:xfrm>
        </p:grpSpPr>
        <p:sp>
          <p:nvSpPr>
            <p:cNvPr id="97" name="Google Shape;560;p15"/>
            <p:cNvSpPr/>
            <p:nvPr/>
          </p:nvSpPr>
          <p:spPr>
            <a:xfrm>
              <a:off x="6457013" y="1566237"/>
              <a:ext cx="1093201" cy="916078"/>
            </a:xfrm>
            <a:prstGeom prst="rect">
              <a:avLst/>
            </a:prstGeom>
            <a:solidFill>
              <a:srgbClr val="EAF1DD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8" name="Google Shape;561;p15"/>
            <p:cNvSpPr/>
            <p:nvPr/>
          </p:nvSpPr>
          <p:spPr>
            <a:xfrm>
              <a:off x="6517976" y="1610278"/>
              <a:ext cx="965895" cy="23754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월납부금액 확인, 정기결제 동의</a:t>
              </a:r>
              <a:endParaRPr/>
            </a:p>
          </p:txBody>
        </p:sp>
        <p:sp>
          <p:nvSpPr>
            <p:cNvPr id="99" name="Google Shape;562;p15"/>
            <p:cNvSpPr/>
            <p:nvPr/>
          </p:nvSpPr>
          <p:spPr>
            <a:xfrm>
              <a:off x="6517976" y="1871561"/>
              <a:ext cx="965895" cy="17629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납부방법</a:t>
              </a: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" name="Google Shape;563;p15"/>
            <p:cNvSpPr/>
            <p:nvPr/>
          </p:nvSpPr>
          <p:spPr>
            <a:xfrm>
              <a:off x="6517976" y="2073401"/>
              <a:ext cx="965895" cy="17629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계좌 유효성확인</a:t>
              </a:r>
              <a:endParaRPr/>
            </a:p>
          </p:txBody>
        </p:sp>
        <p:sp>
          <p:nvSpPr>
            <p:cNvPr id="101" name="Google Shape;564;p15"/>
            <p:cNvSpPr/>
            <p:nvPr/>
          </p:nvSpPr>
          <p:spPr>
            <a:xfrm>
              <a:off x="6517976" y="2284655"/>
              <a:ext cx="965895" cy="17629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800"/>
                <a:buFont typeface="Malgun Gothic"/>
                <a:buNone/>
              </a:pPr>
              <a:r>
                <a:rPr lang="ko-KR" sz="8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청약완료(주문안내)</a:t>
              </a:r>
              <a:endParaRPr sz="8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2" name="Google Shape;565;p15"/>
          <p:cNvCxnSpPr>
            <a:stCxn id="93" idx="1"/>
            <a:endCxn id="97" idx="0"/>
          </p:cNvCxnSpPr>
          <p:nvPr/>
        </p:nvCxnSpPr>
        <p:spPr>
          <a:xfrm flipH="1">
            <a:off x="5087956" y="5536243"/>
            <a:ext cx="572100" cy="1035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" name="Google Shape;566;p15"/>
          <p:cNvCxnSpPr>
            <a:stCxn id="93" idx="2"/>
            <a:endCxn id="87" idx="0"/>
          </p:cNvCxnSpPr>
          <p:nvPr/>
        </p:nvCxnSpPr>
        <p:spPr>
          <a:xfrm rot="-5400000" flipH="1">
            <a:off x="7311603" y="4742227"/>
            <a:ext cx="205200" cy="2122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4" name="Google Shape;567;p15"/>
          <p:cNvSpPr txBox="1"/>
          <p:nvPr/>
        </p:nvSpPr>
        <p:spPr>
          <a:xfrm>
            <a:off x="6381242" y="5645770"/>
            <a:ext cx="3465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568;p15"/>
          <p:cNvSpPr txBox="1"/>
          <p:nvPr/>
        </p:nvSpPr>
        <p:spPr>
          <a:xfrm>
            <a:off x="7476466" y="5022171"/>
            <a:ext cx="3898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성공</a:t>
            </a:r>
            <a:endParaRPr/>
          </a:p>
        </p:txBody>
      </p:sp>
      <p:sp>
        <p:nvSpPr>
          <p:cNvPr id="106" name="Google Shape;569;p15"/>
          <p:cNvSpPr txBox="1"/>
          <p:nvPr/>
        </p:nvSpPr>
        <p:spPr>
          <a:xfrm>
            <a:off x="5350923" y="5329884"/>
            <a:ext cx="3593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YES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7" name="Google Shape;570;p15"/>
          <p:cNvCxnSpPr>
            <a:stCxn id="97" idx="2"/>
            <a:endCxn id="39" idx="1"/>
          </p:cNvCxnSpPr>
          <p:nvPr/>
        </p:nvCxnSpPr>
        <p:spPr>
          <a:xfrm rot="5400000" flipH="1">
            <a:off x="2844833" y="4524902"/>
            <a:ext cx="3184800" cy="1301700"/>
          </a:xfrm>
          <a:prstGeom prst="bentConnector4">
            <a:avLst>
              <a:gd name="adj1" fmla="val -1493"/>
              <a:gd name="adj2" fmla="val 117551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8" name="Google Shape;571;p15"/>
          <p:cNvSpPr txBox="1"/>
          <p:nvPr/>
        </p:nvSpPr>
        <p:spPr>
          <a:xfrm>
            <a:off x="605208" y="6483824"/>
            <a:ext cx="304282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청약 성공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청약한 제품에 대한 주문정보를 OBS에 전송하여 자동 진행 ▶</a:t>
            </a:r>
            <a:endParaRPr/>
          </a:p>
        </p:txBody>
      </p:sp>
      <p:grpSp>
        <p:nvGrpSpPr>
          <p:cNvPr id="109" name="Google Shape;572;p15"/>
          <p:cNvGrpSpPr/>
          <p:nvPr/>
        </p:nvGrpSpPr>
        <p:grpSpPr>
          <a:xfrm>
            <a:off x="5088083" y="641579"/>
            <a:ext cx="4010254" cy="215444"/>
            <a:chOff x="4479744" y="641579"/>
            <a:chExt cx="4344121" cy="277626"/>
          </a:xfrm>
        </p:grpSpPr>
        <p:sp>
          <p:nvSpPr>
            <p:cNvPr id="110" name="Google Shape;573;p15"/>
            <p:cNvSpPr/>
            <p:nvPr/>
          </p:nvSpPr>
          <p:spPr>
            <a:xfrm>
              <a:off x="7138756" y="648175"/>
              <a:ext cx="825050" cy="263243"/>
            </a:xfrm>
            <a:prstGeom prst="rect">
              <a:avLst/>
            </a:prstGeom>
            <a:solidFill>
              <a:srgbClr val="DAEEF3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700"/>
                <a:buFont typeface="Malgun Gothic"/>
                <a:buNone/>
              </a:pPr>
              <a:r>
                <a:rPr lang="ko-KR" sz="7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OBS(마젠토</a:t>
              </a:r>
              <a:r>
                <a:rPr lang="ko-KR" sz="7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sz="7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1" name="Google Shape;574;p15"/>
            <p:cNvSpPr/>
            <p:nvPr/>
          </p:nvSpPr>
          <p:spPr>
            <a:xfrm>
              <a:off x="7998814" y="641579"/>
              <a:ext cx="825051" cy="269839"/>
            </a:xfrm>
            <a:prstGeom prst="rect">
              <a:avLst/>
            </a:prstGeom>
            <a:solidFill>
              <a:srgbClr val="EAF1DD"/>
            </a:soli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700"/>
                <a:buFont typeface="Malgun Gothic"/>
                <a:buNone/>
              </a:pPr>
              <a:r>
                <a:rPr lang="ko-KR" sz="7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케어솔루션</a:t>
              </a:r>
              <a:endParaRPr sz="700" b="0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700"/>
                <a:buFont typeface="Malgun Gothic"/>
                <a:buNone/>
              </a:pPr>
              <a:r>
                <a:rPr lang="ko-KR" sz="7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(대표사이트개발)</a:t>
              </a:r>
              <a:endParaRPr sz="7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575;p15"/>
            <p:cNvSpPr/>
            <p:nvPr/>
          </p:nvSpPr>
          <p:spPr>
            <a:xfrm>
              <a:off x="6269645" y="648175"/>
              <a:ext cx="825050" cy="263243"/>
            </a:xfrm>
            <a:prstGeom prst="rect">
              <a:avLst/>
            </a:prstGeom>
            <a:solidFill>
              <a:srgbClr val="CCC0D9"/>
            </a:solidFill>
            <a:ln w="9525" cap="flat" cmpd="sng">
              <a:solidFill>
                <a:srgbClr val="5F497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700"/>
                <a:buFont typeface="Malgun Gothic"/>
                <a:buNone/>
              </a:pPr>
              <a:r>
                <a:rPr lang="ko-KR" sz="7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멤버십</a:t>
              </a:r>
              <a:endParaRPr sz="7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700"/>
                <a:buFont typeface="Malgun Gothic"/>
                <a:buNone/>
              </a:pPr>
              <a:r>
                <a:rPr lang="ko-KR" sz="7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(회원)</a:t>
              </a:r>
              <a:endParaRPr sz="7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" name="Google Shape;576;p15"/>
            <p:cNvSpPr/>
            <p:nvPr/>
          </p:nvSpPr>
          <p:spPr>
            <a:xfrm>
              <a:off x="5405647" y="648175"/>
              <a:ext cx="825050" cy="263243"/>
            </a:xfrm>
            <a:prstGeom prst="rect">
              <a:avLst/>
            </a:prstGeom>
            <a:solidFill>
              <a:srgbClr val="FBD4B4"/>
            </a:solidFill>
            <a:ln w="9525" cap="flat" cmpd="sng">
              <a:solidFill>
                <a:srgbClr val="E36C0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700"/>
                <a:buFont typeface="Malgun Gothic"/>
                <a:buNone/>
              </a:pPr>
              <a:r>
                <a:rPr lang="ko-KR" sz="7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CSMS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700"/>
                <a:buFont typeface="Malgun Gothic"/>
                <a:buNone/>
              </a:pPr>
              <a:r>
                <a:rPr lang="ko-KR" sz="700" b="0" i="0" u="none" strike="noStrike" cap="none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sz="7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계약정보)</a:t>
              </a:r>
              <a:endParaRPr sz="7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" name="Google Shape;577;p15"/>
            <p:cNvSpPr/>
            <p:nvPr/>
          </p:nvSpPr>
          <p:spPr>
            <a:xfrm>
              <a:off x="4479744" y="655962"/>
              <a:ext cx="898574" cy="263243"/>
            </a:xfrm>
            <a:prstGeom prst="rect">
              <a:avLst/>
            </a:prstGeom>
            <a:solidFill>
              <a:srgbClr val="C4BD97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700"/>
                <a:buFont typeface="Malgun Gothic"/>
                <a:buNone/>
              </a:pPr>
              <a:r>
                <a:rPr lang="ko-KR" sz="700" b="0">
                  <a:solidFill>
                    <a:srgbClr val="0C0C0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외부인증 모듈</a:t>
              </a:r>
              <a:endParaRPr sz="700" b="0" i="0" u="none" strike="noStrike" cap="non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18" name="Google Shape;582;p15"/>
          <p:cNvCxnSpPr>
            <a:stCxn id="17" idx="3"/>
            <a:endCxn id="22" idx="0"/>
          </p:cNvCxnSpPr>
          <p:nvPr/>
        </p:nvCxnSpPr>
        <p:spPr>
          <a:xfrm>
            <a:off x="3143635" y="1992446"/>
            <a:ext cx="122100" cy="6522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9" name="Google Shape;591;p15"/>
          <p:cNvSpPr txBox="1"/>
          <p:nvPr/>
        </p:nvSpPr>
        <p:spPr>
          <a:xfrm>
            <a:off x="7496548" y="2596498"/>
            <a:ext cx="3593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YES</a:t>
            </a:r>
            <a:endParaRPr sz="8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480934" y="3744232"/>
            <a:ext cx="25290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서비스 가능여부 </a:t>
            </a:r>
            <a:r>
              <a:rPr lang="en-US" altLang="ko-KR" sz="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= </a:t>
            </a:r>
            <a:r>
              <a:rPr lang="ko-KR" altLang="en-US" sz="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설치 가능 여부</a:t>
            </a:r>
            <a:endParaRPr lang="en-US" altLang="ko-KR" sz="8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설치가능여부 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3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가지 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API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호출을 통해 가능여부 판단</a:t>
            </a:r>
            <a:endParaRPr lang="en-US" altLang="ko-KR" sz="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85725" indent="-85725">
              <a:buFontTx/>
              <a:buChar char="-"/>
            </a:pP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서비스 가능 지역 조회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(0057)</a:t>
            </a:r>
          </a:p>
          <a:p>
            <a:pPr marL="85725" indent="-85725">
              <a:buFontTx/>
              <a:buChar char="-"/>
            </a:pP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기존 중복청약 여부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(0058)</a:t>
            </a:r>
          </a:p>
          <a:p>
            <a:pPr marL="85725" indent="-85725">
              <a:buFontTx/>
              <a:buChar char="-"/>
            </a:pP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청약모델조회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(0050) –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요금제 유효 여부</a:t>
            </a:r>
            <a:endParaRPr lang="en-US" altLang="ko-KR" sz="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endParaRPr lang="en-US" altLang="ko-KR" sz="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&lt;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서비스 가능 여부 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NO case&gt;</a:t>
            </a:r>
          </a:p>
          <a:p>
            <a:pPr marL="85725" indent="-85725">
              <a:buAutoNum type="arabicPeriod"/>
            </a:pP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우편번호가 입력되지 않을 때</a:t>
            </a:r>
            <a:endParaRPr lang="en-US" altLang="ko-KR" sz="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85725" indent="-85725">
              <a:buAutoNum type="arabicPeriod"/>
            </a:pP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서비스 가능지역조회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(0057)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결과 없음</a:t>
            </a:r>
            <a:endParaRPr lang="en-US" altLang="ko-KR" sz="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2-1.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서비스 가능 지역 조회 결과에서 서비스 가능여부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lang="en-US" altLang="ko-KR" sz="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serviceYn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 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‘Y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가 </a:t>
            </a:r>
            <a:r>
              <a:rPr lang="ko-KR" altLang="en-US" sz="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아닐경우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3.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기존 중복청약 여부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(0058)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확인 시 중복청약인 경우</a:t>
            </a:r>
            <a:endParaRPr lang="en-US" altLang="ko-KR" sz="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4. ‘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청약모델조회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(0050) –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요금제 유효 여부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‘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조회 시 </a:t>
            </a:r>
            <a:r>
              <a:rPr lang="ko-KR" altLang="en-US" sz="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미제공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요금제 일 경우</a:t>
            </a:r>
            <a:endParaRPr lang="en-US" altLang="ko-KR" sz="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5.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얼음정수기냉장고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정수기 </a:t>
            </a:r>
            <a:r>
              <a:rPr lang="ko-KR" altLang="en-US" sz="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일경우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수질검사대상여부 인지 확인 후 수질검사대상이면 설치불가능 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수질검사대상여부는 서비스 가능지역조회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(0057)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의 결과에 있음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이때 복수제품을 신청하는 경우이면 정수기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얼음정수기 냉장고를 제외한 </a:t>
            </a:r>
            <a:r>
              <a:rPr lang="ko-KR" altLang="en-US" sz="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설치가능한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제품만 청약 신청가능</a:t>
            </a:r>
          </a:p>
        </p:txBody>
      </p:sp>
    </p:spTree>
    <p:extLst>
      <p:ext uri="{BB962C8B-B14F-4D97-AF65-F5344CB8AC3E}">
        <p14:creationId xmlns:p14="http://schemas.microsoft.com/office/powerpoint/2010/main" val="257483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BED38-D999-4E3F-BF34-C72B1E59E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리뷰 </a:t>
            </a:r>
            <a:r>
              <a:rPr lang="en-US" altLang="ko-KR"/>
              <a:t>- </a:t>
            </a:r>
            <a:r>
              <a:rPr lang="ko-KR" altLang="en-US"/>
              <a:t>제품 카테고리별 평가 항목</a:t>
            </a:r>
          </a:p>
        </p:txBody>
      </p:sp>
      <p:graphicFrame>
        <p:nvGraphicFramePr>
          <p:cNvPr id="4" name="Google Shape;675;p18">
            <a:extLst>
              <a:ext uri="{FF2B5EF4-FFF2-40B4-BE49-F238E27FC236}">
                <a16:creationId xmlns:a16="http://schemas.microsoft.com/office/drawing/2014/main" id="{356FE825-95F7-1710-394E-D2D03EB412F7}"/>
              </a:ext>
            </a:extLst>
          </p:cNvPr>
          <p:cNvGraphicFramePr/>
          <p:nvPr/>
        </p:nvGraphicFramePr>
        <p:xfrm>
          <a:off x="490881" y="991303"/>
          <a:ext cx="4922451" cy="50330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9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Quattrocento Sans"/>
                          <a:sym typeface="Quattrocento Sans"/>
                        </a:rPr>
                        <a:t>대카테고리</a:t>
                      </a:r>
                      <a:endParaRPr sz="800" b="0" i="0" u="none" strike="noStrike" dirty="0">
                        <a:solidFill>
                          <a:srgbClr val="000000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  <a:cs typeface="Quattrocento Sans"/>
                        <a:sym typeface="Quattrocento San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u="none" strike="noStrike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중카테고리</a:t>
                      </a:r>
                      <a:endParaRPr sz="800" b="0" i="0" u="none" strike="noStrike" dirty="0">
                        <a:solidFill>
                          <a:srgbClr val="000000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  <a:cs typeface="Quattrocento Sans"/>
                        <a:sym typeface="Quattrocento San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Quattrocento Sans"/>
                          <a:sym typeface="Quattrocento Sans"/>
                        </a:rPr>
                        <a:t>카테고리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Quattrocento Sans"/>
                          <a:sym typeface="Quattrocento Sans"/>
                        </a:rPr>
                        <a:t>ID</a:t>
                      </a:r>
                      <a:endParaRPr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Quattrocento Sans"/>
                          <a:sym typeface="Quattrocento Sans"/>
                        </a:rPr>
                        <a:t>평가 항목</a:t>
                      </a:r>
                      <a:endParaRPr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113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TV/AV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TV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CT50000025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화질 | 사운드| 부가기능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프로젝터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CT50000032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화질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오디오</a:t>
                      </a: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비디오</a:t>
                      </a:r>
                      <a:endParaRPr sz="800" b="0" i="0" u="none" strike="noStrike">
                        <a:solidFill>
                          <a:srgbClr val="C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CT50000036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음질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113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PC</a:t>
                      </a:r>
                      <a:r>
                        <a:rPr lang="en-US" alt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모니터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노트북</a:t>
                      </a: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태블릿</a:t>
                      </a:r>
                      <a:endParaRPr sz="800" b="0" i="0" u="none" strike="noStrike">
                        <a:solidFill>
                          <a:srgbClr val="C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CT50000046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휴대성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일체형</a:t>
                      </a: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테스트톱</a:t>
                      </a:r>
                      <a:endParaRPr sz="800" b="0" i="0" u="none" strike="noStrike">
                        <a:solidFill>
                          <a:srgbClr val="C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CT50000051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모니터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CT50000055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화질 | 기능 | 디자인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0113">
                <a:tc rowSpan="7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주방가전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냉장고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CT50000065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용량 효율성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김치냉장고</a:t>
                      </a:r>
                      <a:endParaRPr sz="800" b="0" i="0" u="none" strike="no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CT50000072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용량 효율성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03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전자레인지/오븐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CT50019018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부가기능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전기레인지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CT50000076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부가기능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식기세척기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CT50000086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정수기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CT50000094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맥주제조기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CT50000087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0113">
                <a:tc row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생활가전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워시타워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CT50000110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세탁기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CT50000101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의류건조기</a:t>
                      </a:r>
                      <a:endParaRPr sz="800" b="0" i="0" u="none" strike="noStrike">
                        <a:solidFill>
                          <a:srgbClr val="C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CT50000107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의류관리기</a:t>
                      </a:r>
                      <a:endParaRPr sz="800" b="0" i="0" u="none" strike="noStrike">
                        <a:solidFill>
                          <a:srgbClr val="C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CT50000106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청소기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CT50000111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휴대성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안마의자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CT50000123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부가기능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0113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에어컨/에어케어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에어컨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CT50000131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공기청정기</a:t>
                      </a:r>
                      <a:endParaRPr sz="800" b="0" i="0" u="none" strike="noStrike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CT50000143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제습기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CT50000142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가습기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CT50000139</a:t>
                      </a:r>
                      <a:endParaRPr sz="800" b="0" i="0" u="none" strike="no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0113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sng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모바일</a:t>
                      </a:r>
                      <a:endParaRPr sz="800" b="0" i="0" u="none" strike="sng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sng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스마트폰</a:t>
                      </a:r>
                      <a:endParaRPr sz="800" b="0" i="0" u="none" strike="sng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제외</a:t>
                      </a:r>
                      <a:endParaRPr sz="800" b="0" i="0" u="none" strike="sng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 strike="sng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sngStrike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피처폰</a:t>
                      </a:r>
                      <a:endParaRPr sz="800" b="0" i="0" u="none" strike="sng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sng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제외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 strike="sng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스마트 디바이스</a:t>
                      </a:r>
                      <a:endParaRPr sz="800" b="0" i="0" u="none" strike="sng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sng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제외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 strike="sng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sng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제외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 strike="sng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0113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뷰티</a:t>
                      </a: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C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의료기기</a:t>
                      </a:r>
                      <a:endParaRPr sz="800" b="0" i="0" u="none" strike="noStrike">
                        <a:solidFill>
                          <a:srgbClr val="C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LED 마스크</a:t>
                      </a:r>
                      <a:endParaRPr strike="sng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sng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제외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 strike="sng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011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LED 넥케어</a:t>
                      </a:r>
                      <a:endParaRPr sz="800" b="0" i="0" u="none" strike="sngStrike">
                        <a:solidFill>
                          <a:srgbClr val="00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sng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제외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sng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 strike="sngStrike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32189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뷰티 디바이스</a:t>
                      </a:r>
                      <a:endParaRPr lang="ko-KR" altLang="en-US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CT50000165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 | 디자인 | 사용성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</a:tbl>
          </a:graphicData>
        </a:graphic>
      </p:graphicFrame>
      <p:sp>
        <p:nvSpPr>
          <p:cNvPr id="5" name="Google Shape;720;p19">
            <a:extLst>
              <a:ext uri="{FF2B5EF4-FFF2-40B4-BE49-F238E27FC236}">
                <a16:creationId xmlns:a16="http://schemas.microsoft.com/office/drawing/2014/main" id="{E8E83C64-A6CE-3DC8-7B66-3139263E818B}"/>
              </a:ext>
            </a:extLst>
          </p:cNvPr>
          <p:cNvSpPr txBox="1"/>
          <p:nvPr/>
        </p:nvSpPr>
        <p:spPr>
          <a:xfrm>
            <a:off x="5687370" y="651830"/>
            <a:ext cx="262682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50"/>
              <a:buFont typeface="Malgun Gothic"/>
              <a:buNone/>
            </a:pPr>
            <a:r>
              <a:rPr lang="ko-KR" sz="1050" b="1" i="0" u="none" strike="noStrike" cap="none">
                <a:solidFill>
                  <a:srgbClr val="0C0C0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/>
                <a:sym typeface="Malgun Gothic"/>
              </a:rPr>
              <a:t>항목</a:t>
            </a:r>
            <a:r>
              <a:rPr lang="ko-KR" altLang="en-US" sz="1050" b="1" i="0" u="none" strike="noStrike" cap="none">
                <a:solidFill>
                  <a:srgbClr val="0C0C0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/>
                <a:sym typeface="Malgun Gothic"/>
              </a:rPr>
              <a:t>별</a:t>
            </a:r>
            <a:r>
              <a:rPr lang="ko-KR" sz="1050" b="1" i="0" u="none" strike="noStrike" cap="none">
                <a:solidFill>
                  <a:srgbClr val="0C0C0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/>
                <a:sym typeface="Malgun Gothic"/>
              </a:rPr>
              <a:t> 평가 지표</a:t>
            </a:r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aphicFrame>
        <p:nvGraphicFramePr>
          <p:cNvPr id="6" name="Google Shape;721;p19">
            <a:extLst>
              <a:ext uri="{FF2B5EF4-FFF2-40B4-BE49-F238E27FC236}">
                <a16:creationId xmlns:a16="http://schemas.microsoft.com/office/drawing/2014/main" id="{E90A17B5-4722-7B9E-A228-2B7A66C5F0AA}"/>
              </a:ext>
            </a:extLst>
          </p:cNvPr>
          <p:cNvGraphicFramePr/>
          <p:nvPr/>
        </p:nvGraphicFramePr>
        <p:xfrm>
          <a:off x="5705325" y="987470"/>
          <a:ext cx="6088741" cy="25133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21601">
                  <a:extLst>
                    <a:ext uri="{9D8B030D-6E8A-4147-A177-3AD203B41FA5}">
                      <a16:colId xmlns:a16="http://schemas.microsoft.com/office/drawing/2014/main" val="2029767312"/>
                    </a:ext>
                  </a:extLst>
                </a:gridCol>
                <a:gridCol w="1330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55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altLang="en-US" sz="800" b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항목</a:t>
                      </a:r>
                      <a:endParaRPr sz="800"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-US" altLang="ko-KR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3</a:t>
                      </a:r>
                      <a:r>
                        <a:rPr lang="ko-KR" altLang="en-US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점 척도 평가</a:t>
                      </a:r>
                      <a:r>
                        <a:rPr lang="en-US" altLang="ko-KR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 (</a:t>
                      </a:r>
                      <a:r>
                        <a:rPr lang="ko-KR" altLang="en-US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리뷰 작성 팝업 노출</a:t>
                      </a:r>
                      <a:r>
                        <a:rPr lang="en-US" altLang="ko-KR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)</a:t>
                      </a:r>
                      <a:endParaRPr b="0">
                        <a:solidFill>
                          <a:srgbClr val="C00000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3점 척도 평가</a:t>
                      </a:r>
                      <a:r>
                        <a:rPr lang="en-US" altLang="ko-KR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 (</a:t>
                      </a:r>
                      <a:r>
                        <a:rPr lang="ko-KR" altLang="en-US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리뷰 작성 팝업 노출</a:t>
                      </a:r>
                      <a:r>
                        <a:rPr lang="en-US" altLang="ko-KR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)</a:t>
                      </a:r>
                      <a:endParaRPr b="0">
                        <a:solidFill>
                          <a:srgbClr val="C00000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6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노출 문구</a:t>
                      </a:r>
                      <a:endParaRPr lang="ko-KR" altLang="en-US" sz="800"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긍정</a:t>
                      </a:r>
                      <a:endParaRPr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보통</a:t>
                      </a:r>
                      <a:endParaRPr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부정</a:t>
                      </a:r>
                      <a:endParaRPr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화질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화질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은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선명해요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아쉬워요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음질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음질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은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뛰어나요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아쉬워요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성능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은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좋아요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별로예요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사운드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사운드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는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우수해요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별로예요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디자인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디자인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은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뛰어나요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별로예요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기능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기능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은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다양해요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아쉬워요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휴대성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휴대성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은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좋아요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떨어져요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용량 효율성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용량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효율성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은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높아요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떨어져요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부가기능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부가기능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은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많아요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아쉬워요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사용성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사용성</a:t>
                      </a: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은 어떤가요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?</a:t>
                      </a:r>
                      <a:endParaRPr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좋아요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별로예요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Google Shape;723;p19">
            <a:extLst>
              <a:ext uri="{FF2B5EF4-FFF2-40B4-BE49-F238E27FC236}">
                <a16:creationId xmlns:a16="http://schemas.microsoft.com/office/drawing/2014/main" id="{C4B414F7-ED5B-A61D-EDB5-0B7131E211E4}"/>
              </a:ext>
            </a:extLst>
          </p:cNvPr>
          <p:cNvSpPr/>
          <p:nvPr/>
        </p:nvSpPr>
        <p:spPr>
          <a:xfrm>
            <a:off x="3584856" y="995590"/>
            <a:ext cx="1828476" cy="5028751"/>
          </a:xfrm>
          <a:prstGeom prst="rect">
            <a:avLst/>
          </a:prstGeom>
          <a:noFill/>
          <a:ln w="317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0C0C0C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Malgun Gothic"/>
              <a:sym typeface="Malgun Gothic"/>
            </a:endParaRPr>
          </a:p>
        </p:txBody>
      </p:sp>
      <p:sp>
        <p:nvSpPr>
          <p:cNvPr id="3" name="Google Shape;720;p19">
            <a:extLst>
              <a:ext uri="{FF2B5EF4-FFF2-40B4-BE49-F238E27FC236}">
                <a16:creationId xmlns:a16="http://schemas.microsoft.com/office/drawing/2014/main" id="{DBF1FF30-BA85-920B-3385-4F35E8777F00}"/>
              </a:ext>
            </a:extLst>
          </p:cNvPr>
          <p:cNvSpPr txBox="1"/>
          <p:nvPr/>
        </p:nvSpPr>
        <p:spPr>
          <a:xfrm>
            <a:off x="490881" y="651830"/>
            <a:ext cx="262682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50"/>
              <a:buFont typeface="Malgun Gothic"/>
              <a:buNone/>
            </a:pPr>
            <a:r>
              <a:rPr lang="ko-KR" altLang="en-US" sz="1050" b="1" i="0" u="none" strike="noStrike" cap="none">
                <a:solidFill>
                  <a:srgbClr val="0C0C0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/>
                <a:sym typeface="Malgun Gothic"/>
              </a:rPr>
              <a:t>카테고리별 평가 항목 </a:t>
            </a:r>
            <a:r>
              <a:rPr lang="en-US" altLang="ko-KR" sz="1050" b="1" i="0" u="none" strike="noStrike" cap="none">
                <a:solidFill>
                  <a:srgbClr val="0C0C0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/>
                <a:sym typeface="Malgun Gothic"/>
              </a:rPr>
              <a:t>(</a:t>
            </a:r>
            <a:r>
              <a:rPr lang="ko-KR" altLang="en-US" sz="1050" b="1" i="0" u="none" strike="noStrike" cap="none">
                <a:solidFill>
                  <a:srgbClr val="0C0C0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/>
                <a:sym typeface="Malgun Gothic"/>
              </a:rPr>
              <a:t>중카 기준</a:t>
            </a:r>
            <a:r>
              <a:rPr lang="en-US" altLang="ko-KR" sz="1050" b="1" i="0" u="none" strike="noStrike" cap="none">
                <a:solidFill>
                  <a:srgbClr val="0C0C0C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/>
                <a:sym typeface="Malgun Gothic"/>
              </a:rPr>
              <a:t>)</a:t>
            </a:r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3FD5240D-6507-5F52-6D13-592D3D7F579C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5413332" y="2244122"/>
            <a:ext cx="291993" cy="1263700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49137C-6F20-8CBF-FAC5-FA6D99E54E83}"/>
              </a:ext>
            </a:extLst>
          </p:cNvPr>
          <p:cNvSpPr txBox="1"/>
          <p:nvPr/>
        </p:nvSpPr>
        <p:spPr>
          <a:xfrm>
            <a:off x="9522467" y="572111"/>
            <a:ext cx="22589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800">
                <a:solidFill>
                  <a:srgbClr val="C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ko-KR" altLang="en-US" sz="800">
                <a:solidFill>
                  <a:srgbClr val="C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카테고리 개편내용 현행화하여 평가항목 정리</a:t>
            </a:r>
            <a:endParaRPr lang="en-US" altLang="ko-KR" sz="800">
              <a:solidFill>
                <a:srgbClr val="C0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algn="just"/>
            <a:r>
              <a:rPr lang="en-US" altLang="ko-KR" sz="800">
                <a:solidFill>
                  <a:srgbClr val="C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ko-KR" altLang="en-US" sz="800">
                <a:solidFill>
                  <a:srgbClr val="C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기존 평가 항목 승계</a:t>
            </a:r>
            <a:endParaRPr lang="en-US" altLang="ko-KR" sz="800">
              <a:solidFill>
                <a:srgbClr val="C0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31AFC7-5B8C-2B8C-4065-EC79A39CF795}"/>
              </a:ext>
            </a:extLst>
          </p:cNvPr>
          <p:cNvSpPr/>
          <p:nvPr/>
        </p:nvSpPr>
        <p:spPr>
          <a:xfrm>
            <a:off x="9683931" y="500"/>
            <a:ext cx="2508069" cy="196307"/>
          </a:xfrm>
          <a:prstGeom prst="rect">
            <a:avLst/>
          </a:prstGeom>
          <a:solidFill>
            <a:srgbClr val="B348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V0.98 </a:t>
            </a:r>
            <a:r>
              <a:rPr lang="ko-KR" altLang="en-US" sz="80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제품 카테고리별 평가 항목 현행화</a:t>
            </a:r>
          </a:p>
        </p:txBody>
      </p:sp>
      <p:graphicFrame>
        <p:nvGraphicFramePr>
          <p:cNvPr id="12" name="Google Shape;721;p19">
            <a:extLst>
              <a:ext uri="{FF2B5EF4-FFF2-40B4-BE49-F238E27FC236}">
                <a16:creationId xmlns:a16="http://schemas.microsoft.com/office/drawing/2014/main" id="{6F3C7E42-F32C-AE28-6241-B6F2F5890C94}"/>
              </a:ext>
            </a:extLst>
          </p:cNvPr>
          <p:cNvGraphicFramePr/>
          <p:nvPr/>
        </p:nvGraphicFramePr>
        <p:xfrm>
          <a:off x="5705325" y="4051803"/>
          <a:ext cx="6076093" cy="25133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21457">
                  <a:extLst>
                    <a:ext uri="{9D8B030D-6E8A-4147-A177-3AD203B41FA5}">
                      <a16:colId xmlns:a16="http://schemas.microsoft.com/office/drawing/2014/main" val="2029767312"/>
                    </a:ext>
                  </a:extLst>
                </a:gridCol>
                <a:gridCol w="1718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altLang="en-US" sz="800" b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항목</a:t>
                      </a:r>
                      <a:endParaRPr sz="800"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3점 척도 평가</a:t>
                      </a:r>
                      <a:r>
                        <a:rPr lang="en-US" altLang="ko-KR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 (PDP </a:t>
                      </a:r>
                      <a:r>
                        <a:rPr lang="ko-KR" altLang="en-US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상단 노출 문구</a:t>
                      </a:r>
                      <a:r>
                        <a:rPr lang="en-US" altLang="ko-KR" sz="800" b="0" i="0" u="none" strike="noStrike" cap="none">
                          <a:solidFill>
                            <a:srgbClr val="C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)</a:t>
                      </a:r>
                      <a:endParaRPr b="0">
                        <a:solidFill>
                          <a:srgbClr val="C00000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6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긍정</a:t>
                      </a:r>
                      <a:endParaRPr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보통</a:t>
                      </a:r>
                      <a:endParaRPr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ko-KR" sz="800" b="0" i="0" u="none" strike="noStrike" cap="none">
                          <a:solidFill>
                            <a:srgbClr val="000000"/>
                          </a:solidFill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  <a:cs typeface="Arial"/>
                          <a:sym typeface="Arial"/>
                        </a:rPr>
                        <a:t>부정</a:t>
                      </a:r>
                      <a:endParaRPr b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4400" marR="84400" marT="42225" marB="42225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화질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화질이 선명해요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화질이 </a:t>
                      </a: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화질이 아쉬워요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음질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음질이 뛰어나요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음질이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음질이 아쉬워요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성능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성능이 </a:t>
                      </a: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좋아요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성능이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성능이 </a:t>
                      </a: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별로예요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사운드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사운드가 </a:t>
                      </a: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우수해요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사운드가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사운드가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별로예요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디자인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디자인이 뛰어나요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디자인이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디자인이</a:t>
                      </a:r>
                      <a:r>
                        <a:rPr lang="en-US" alt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별로예요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기능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기능이 다양해요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기능이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기능이 아쉬워요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휴대성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휴대성이 좋아요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휴대성이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휴대성이 떨어져요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용량 효율성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효율성이 높아요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효율성이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효율성이 떨어져요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부가기능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부가기능이 많아요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부가기능이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부가기능이 아쉬워요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사용성</a:t>
                      </a:r>
                      <a:endParaRPr sz="8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사용성이 좋아요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사용성이 </a:t>
                      </a:r>
                      <a:r>
                        <a:rPr lang="ko-KR" sz="800" b="0" i="0" u="none" strike="noStrike" cap="none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보통이예요</a:t>
                      </a:r>
                      <a:endParaRPr sz="800" b="0" i="0" u="none" strike="noStrike" cap="none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사용성이 </a:t>
                      </a:r>
                      <a:r>
                        <a:rPr lang="ko-KR" sz="800">
                          <a:solidFill>
                            <a:srgbClr val="3F3F3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Malgun Gothic"/>
                          <a:sym typeface="Malgun Gothic"/>
                        </a:rPr>
                        <a:t>별로예요</a:t>
                      </a:r>
                      <a:endParaRPr sz="800">
                        <a:solidFill>
                          <a:srgbClr val="3F3F3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Malgun Gothic"/>
                        <a:sym typeface="Malgun Gothic"/>
                      </a:endParaRPr>
                    </a:p>
                  </a:txBody>
                  <a:tcPr marL="55725" marR="55725" marT="27850" marB="278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5AF57524-FD32-6C91-A1F1-7E628E3FA5F4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5413332" y="3507822"/>
            <a:ext cx="291993" cy="1800633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1C4F86-EB1F-70F6-CE5D-B59274D4B6B7}"/>
              </a:ext>
            </a:extLst>
          </p:cNvPr>
          <p:cNvSpPr/>
          <p:nvPr/>
        </p:nvSpPr>
        <p:spPr>
          <a:xfrm>
            <a:off x="9683931" y="121686"/>
            <a:ext cx="2508069" cy="150990"/>
          </a:xfrm>
          <a:prstGeom prst="rect">
            <a:avLst/>
          </a:prstGeom>
          <a:solidFill>
            <a:srgbClr val="A499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V1.01 as-is </a:t>
            </a:r>
            <a:r>
              <a:rPr lang="ko-KR" altLang="en-US" sz="80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맞춰 중카 기준으로 승계</a:t>
            </a:r>
            <a:r>
              <a:rPr lang="en-US" altLang="ko-KR" sz="80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, </a:t>
            </a:r>
            <a:r>
              <a:rPr lang="ko-KR" altLang="en-US" sz="80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카테고리</a:t>
            </a:r>
            <a:r>
              <a:rPr lang="en-US" altLang="ko-KR" sz="80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ID </a:t>
            </a:r>
            <a:r>
              <a:rPr lang="ko-KR" altLang="en-US" sz="80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1450473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모서리가 둥근 직사각형 128"/>
          <p:cNvSpPr/>
          <p:nvPr/>
        </p:nvSpPr>
        <p:spPr>
          <a:xfrm>
            <a:off x="461515" y="5090429"/>
            <a:ext cx="2813452" cy="600290"/>
          </a:xfrm>
          <a:prstGeom prst="roundRect">
            <a:avLst>
              <a:gd name="adj" fmla="val 14952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AD5CBD0-2860-C64A-BE77-A35125F43DFA}"/>
              </a:ext>
            </a:extLst>
          </p:cNvPr>
          <p:cNvSpPr txBox="1"/>
          <p:nvPr/>
        </p:nvSpPr>
        <p:spPr>
          <a:xfrm>
            <a:off x="576611" y="5229883"/>
            <a:ext cx="44242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옵션 선택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AD5CBD0-2860-C64A-BE77-A35125F43DFA}"/>
              </a:ext>
            </a:extLst>
          </p:cNvPr>
          <p:cNvSpPr txBox="1"/>
          <p:nvPr/>
        </p:nvSpPr>
        <p:spPr>
          <a:xfrm>
            <a:off x="3107976" y="5305985"/>
            <a:ext cx="801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&gt;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572238" y="5441981"/>
            <a:ext cx="79989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163cm</a:t>
            </a:r>
            <a:r>
              <a:rPr lang="ko-KR" altLang="en-US" sz="1000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</a:t>
            </a:r>
            <a:r>
              <a:rPr lang="en-US" altLang="ko-KR" sz="1000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/ </a:t>
            </a:r>
            <a:r>
              <a:rPr lang="ko-KR" altLang="en-US" sz="1000" dirty="0" err="1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레드</a:t>
            </a:r>
            <a:r>
              <a:rPr lang="ko-KR" altLang="en-US" sz="1000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AD5CBD0-2860-C64A-BE77-A35125F43DFA}"/>
              </a:ext>
            </a:extLst>
          </p:cNvPr>
          <p:cNvSpPr txBox="1"/>
          <p:nvPr/>
        </p:nvSpPr>
        <p:spPr>
          <a:xfrm>
            <a:off x="2170004" y="6229434"/>
            <a:ext cx="100187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C00000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9,400,000</a:t>
            </a:r>
            <a:r>
              <a:rPr lang="ko-KR" altLang="en-US" sz="1050" dirty="0">
                <a:solidFill>
                  <a:srgbClr val="C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원</a:t>
            </a:r>
            <a:endParaRPr lang="en-US" altLang="ko-KR" sz="1400" dirty="0">
              <a:solidFill>
                <a:srgbClr val="C00000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grpSp>
        <p:nvGrpSpPr>
          <p:cNvPr id="223" name="그룹 222"/>
          <p:cNvGrpSpPr/>
          <p:nvPr/>
        </p:nvGrpSpPr>
        <p:grpSpPr>
          <a:xfrm>
            <a:off x="585004" y="6278608"/>
            <a:ext cx="752965" cy="151256"/>
            <a:chOff x="559207" y="6136259"/>
            <a:chExt cx="752965" cy="151256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9AD5CBD0-2860-C64A-BE77-A35125F43DFA}"/>
                </a:ext>
              </a:extLst>
            </p:cNvPr>
            <p:cNvSpPr txBox="1"/>
            <p:nvPr/>
          </p:nvSpPr>
          <p:spPr>
            <a:xfrm>
              <a:off x="559207" y="6136259"/>
              <a:ext cx="520976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900" dirty="0"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최대할인가</a:t>
              </a:r>
              <a:endParaRPr lang="en-US" altLang="ko-KR" sz="900" dirty="0"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226" name="Info"/>
            <p:cNvSpPr>
              <a:spLocks noChangeAspect="1" noEditPoints="1"/>
            </p:cNvSpPr>
            <p:nvPr/>
          </p:nvSpPr>
          <p:spPr bwMode="auto">
            <a:xfrm>
              <a:off x="1191659" y="6167002"/>
              <a:ext cx="120513" cy="120513"/>
            </a:xfrm>
            <a:custGeom>
              <a:avLst/>
              <a:gdLst>
                <a:gd name="T0" fmla="*/ 333 w 666"/>
                <a:gd name="T1" fmla="*/ 0 h 667"/>
                <a:gd name="T2" fmla="*/ 0 w 666"/>
                <a:gd name="T3" fmla="*/ 333 h 667"/>
                <a:gd name="T4" fmla="*/ 333 w 666"/>
                <a:gd name="T5" fmla="*/ 667 h 667"/>
                <a:gd name="T6" fmla="*/ 666 w 666"/>
                <a:gd name="T7" fmla="*/ 333 h 667"/>
                <a:gd name="T8" fmla="*/ 333 w 666"/>
                <a:gd name="T9" fmla="*/ 0 h 667"/>
                <a:gd name="T10" fmla="*/ 333 w 666"/>
                <a:gd name="T11" fmla="*/ 27 h 667"/>
                <a:gd name="T12" fmla="*/ 640 w 666"/>
                <a:gd name="T13" fmla="*/ 333 h 667"/>
                <a:gd name="T14" fmla="*/ 333 w 666"/>
                <a:gd name="T15" fmla="*/ 640 h 667"/>
                <a:gd name="T16" fmla="*/ 26 w 666"/>
                <a:gd name="T17" fmla="*/ 333 h 667"/>
                <a:gd name="T18" fmla="*/ 333 w 666"/>
                <a:gd name="T19" fmla="*/ 27 h 667"/>
                <a:gd name="T20" fmla="*/ 317 w 666"/>
                <a:gd name="T21" fmla="*/ 172 h 667"/>
                <a:gd name="T22" fmla="*/ 312 w 666"/>
                <a:gd name="T23" fmla="*/ 177 h 667"/>
                <a:gd name="T24" fmla="*/ 312 w 666"/>
                <a:gd name="T25" fmla="*/ 212 h 667"/>
                <a:gd name="T26" fmla="*/ 317 w 666"/>
                <a:gd name="T27" fmla="*/ 217 h 667"/>
                <a:gd name="T28" fmla="*/ 349 w 666"/>
                <a:gd name="T29" fmla="*/ 217 h 667"/>
                <a:gd name="T30" fmla="*/ 354 w 666"/>
                <a:gd name="T31" fmla="*/ 212 h 667"/>
                <a:gd name="T32" fmla="*/ 354 w 666"/>
                <a:gd name="T33" fmla="*/ 177 h 667"/>
                <a:gd name="T34" fmla="*/ 349 w 666"/>
                <a:gd name="T35" fmla="*/ 172 h 667"/>
                <a:gd name="T36" fmla="*/ 317 w 666"/>
                <a:gd name="T37" fmla="*/ 172 h 667"/>
                <a:gd name="T38" fmla="*/ 318 w 666"/>
                <a:gd name="T39" fmla="*/ 268 h 667"/>
                <a:gd name="T40" fmla="*/ 313 w 666"/>
                <a:gd name="T41" fmla="*/ 273 h 667"/>
                <a:gd name="T42" fmla="*/ 313 w 666"/>
                <a:gd name="T43" fmla="*/ 492 h 667"/>
                <a:gd name="T44" fmla="*/ 318 w 666"/>
                <a:gd name="T45" fmla="*/ 497 h 667"/>
                <a:gd name="T46" fmla="*/ 348 w 666"/>
                <a:gd name="T47" fmla="*/ 497 h 667"/>
                <a:gd name="T48" fmla="*/ 353 w 666"/>
                <a:gd name="T49" fmla="*/ 492 h 667"/>
                <a:gd name="T50" fmla="*/ 353 w 666"/>
                <a:gd name="T51" fmla="*/ 273 h 667"/>
                <a:gd name="T52" fmla="*/ 348 w 666"/>
                <a:gd name="T53" fmla="*/ 268 h 667"/>
                <a:gd name="T54" fmla="*/ 318 w 666"/>
                <a:gd name="T55" fmla="*/ 268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66" h="667">
                  <a:moveTo>
                    <a:pt x="333" y="0"/>
                  </a:moveTo>
                  <a:cubicBezTo>
                    <a:pt x="149" y="0"/>
                    <a:pt x="0" y="149"/>
                    <a:pt x="0" y="333"/>
                  </a:cubicBezTo>
                  <a:cubicBezTo>
                    <a:pt x="0" y="517"/>
                    <a:pt x="149" y="667"/>
                    <a:pt x="333" y="667"/>
                  </a:cubicBezTo>
                  <a:cubicBezTo>
                    <a:pt x="517" y="667"/>
                    <a:pt x="666" y="517"/>
                    <a:pt x="666" y="333"/>
                  </a:cubicBezTo>
                  <a:cubicBezTo>
                    <a:pt x="666" y="149"/>
                    <a:pt x="517" y="0"/>
                    <a:pt x="333" y="0"/>
                  </a:cubicBezTo>
                  <a:close/>
                  <a:moveTo>
                    <a:pt x="333" y="27"/>
                  </a:moveTo>
                  <a:cubicBezTo>
                    <a:pt x="502" y="27"/>
                    <a:pt x="640" y="164"/>
                    <a:pt x="640" y="333"/>
                  </a:cubicBezTo>
                  <a:cubicBezTo>
                    <a:pt x="640" y="503"/>
                    <a:pt x="502" y="640"/>
                    <a:pt x="333" y="640"/>
                  </a:cubicBezTo>
                  <a:cubicBezTo>
                    <a:pt x="163" y="640"/>
                    <a:pt x="26" y="503"/>
                    <a:pt x="26" y="333"/>
                  </a:cubicBezTo>
                  <a:cubicBezTo>
                    <a:pt x="26" y="164"/>
                    <a:pt x="163" y="27"/>
                    <a:pt x="333" y="27"/>
                  </a:cubicBezTo>
                  <a:close/>
                  <a:moveTo>
                    <a:pt x="317" y="172"/>
                  </a:moveTo>
                  <a:cubicBezTo>
                    <a:pt x="314" y="172"/>
                    <a:pt x="312" y="174"/>
                    <a:pt x="312" y="177"/>
                  </a:cubicBezTo>
                  <a:lnTo>
                    <a:pt x="312" y="212"/>
                  </a:lnTo>
                  <a:cubicBezTo>
                    <a:pt x="312" y="215"/>
                    <a:pt x="314" y="217"/>
                    <a:pt x="317" y="217"/>
                  </a:cubicBezTo>
                  <a:lnTo>
                    <a:pt x="349" y="217"/>
                  </a:lnTo>
                  <a:cubicBezTo>
                    <a:pt x="352" y="217"/>
                    <a:pt x="354" y="215"/>
                    <a:pt x="354" y="212"/>
                  </a:cubicBezTo>
                  <a:lnTo>
                    <a:pt x="354" y="177"/>
                  </a:lnTo>
                  <a:cubicBezTo>
                    <a:pt x="354" y="174"/>
                    <a:pt x="352" y="172"/>
                    <a:pt x="349" y="172"/>
                  </a:cubicBezTo>
                  <a:lnTo>
                    <a:pt x="317" y="172"/>
                  </a:lnTo>
                  <a:close/>
                  <a:moveTo>
                    <a:pt x="318" y="268"/>
                  </a:moveTo>
                  <a:cubicBezTo>
                    <a:pt x="315" y="268"/>
                    <a:pt x="313" y="270"/>
                    <a:pt x="313" y="273"/>
                  </a:cubicBezTo>
                  <a:lnTo>
                    <a:pt x="313" y="492"/>
                  </a:lnTo>
                  <a:cubicBezTo>
                    <a:pt x="313" y="495"/>
                    <a:pt x="315" y="497"/>
                    <a:pt x="318" y="497"/>
                  </a:cubicBezTo>
                  <a:lnTo>
                    <a:pt x="348" y="497"/>
                  </a:lnTo>
                  <a:cubicBezTo>
                    <a:pt x="351" y="497"/>
                    <a:pt x="353" y="495"/>
                    <a:pt x="353" y="492"/>
                  </a:cubicBezTo>
                  <a:lnTo>
                    <a:pt x="353" y="273"/>
                  </a:lnTo>
                  <a:cubicBezTo>
                    <a:pt x="353" y="270"/>
                    <a:pt x="351" y="268"/>
                    <a:pt x="348" y="268"/>
                  </a:cubicBezTo>
                  <a:lnTo>
                    <a:pt x="318" y="26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9AD5CBD0-2860-C64A-BE77-A35125F43DFA}"/>
              </a:ext>
            </a:extLst>
          </p:cNvPr>
          <p:cNvSpPr txBox="1"/>
          <p:nvPr/>
        </p:nvSpPr>
        <p:spPr>
          <a:xfrm>
            <a:off x="2179874" y="6000134"/>
            <a:ext cx="100187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9,900,000</a:t>
            </a:r>
            <a:r>
              <a:rPr lang="ko-KR" altLang="en-US" sz="105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원</a:t>
            </a:r>
            <a:endParaRPr lang="en-US" altLang="ko-KR" sz="1400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AD5CBD0-2860-C64A-BE77-A35125F43DFA}"/>
              </a:ext>
            </a:extLst>
          </p:cNvPr>
          <p:cNvSpPr txBox="1"/>
          <p:nvPr/>
        </p:nvSpPr>
        <p:spPr>
          <a:xfrm>
            <a:off x="2505908" y="5888442"/>
            <a:ext cx="6363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800" strike="sngStrike" dirty="0">
                <a:solidFill>
                  <a:schemeClr val="bg1">
                    <a:lumMod val="75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10,969,600</a:t>
            </a:r>
            <a:r>
              <a:rPr lang="ko-KR" altLang="en-US" sz="800" strike="sngStrike" dirty="0">
                <a:solidFill>
                  <a:schemeClr val="bg1">
                    <a:lumMod val="75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원</a:t>
            </a:r>
            <a:endParaRPr lang="en-US" altLang="ko-KR" sz="800" strike="sngStrike" dirty="0">
              <a:solidFill>
                <a:schemeClr val="bg1">
                  <a:lumMod val="75000"/>
                </a:schemeClr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grpSp>
        <p:nvGrpSpPr>
          <p:cNvPr id="229" name="그룹 228"/>
          <p:cNvGrpSpPr/>
          <p:nvPr/>
        </p:nvGrpSpPr>
        <p:grpSpPr>
          <a:xfrm>
            <a:off x="594874" y="6029427"/>
            <a:ext cx="737875" cy="148370"/>
            <a:chOff x="559207" y="5676506"/>
            <a:chExt cx="737875" cy="148370"/>
          </a:xfrm>
        </p:grpSpPr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9AD5CBD0-2860-C64A-BE77-A35125F43DFA}"/>
                </a:ext>
              </a:extLst>
            </p:cNvPr>
            <p:cNvSpPr txBox="1"/>
            <p:nvPr/>
          </p:nvSpPr>
          <p:spPr>
            <a:xfrm>
              <a:off x="559207" y="5676506"/>
              <a:ext cx="520976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900" dirty="0"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회원할인가</a:t>
              </a:r>
              <a:endParaRPr lang="en-US" altLang="ko-KR" sz="900" dirty="0"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231" name="Info"/>
            <p:cNvSpPr>
              <a:spLocks noChangeAspect="1" noEditPoints="1"/>
            </p:cNvSpPr>
            <p:nvPr/>
          </p:nvSpPr>
          <p:spPr bwMode="auto">
            <a:xfrm>
              <a:off x="1176569" y="5704363"/>
              <a:ext cx="120513" cy="120513"/>
            </a:xfrm>
            <a:custGeom>
              <a:avLst/>
              <a:gdLst>
                <a:gd name="T0" fmla="*/ 333 w 666"/>
                <a:gd name="T1" fmla="*/ 0 h 667"/>
                <a:gd name="T2" fmla="*/ 0 w 666"/>
                <a:gd name="T3" fmla="*/ 333 h 667"/>
                <a:gd name="T4" fmla="*/ 333 w 666"/>
                <a:gd name="T5" fmla="*/ 667 h 667"/>
                <a:gd name="T6" fmla="*/ 666 w 666"/>
                <a:gd name="T7" fmla="*/ 333 h 667"/>
                <a:gd name="T8" fmla="*/ 333 w 666"/>
                <a:gd name="T9" fmla="*/ 0 h 667"/>
                <a:gd name="T10" fmla="*/ 333 w 666"/>
                <a:gd name="T11" fmla="*/ 27 h 667"/>
                <a:gd name="T12" fmla="*/ 640 w 666"/>
                <a:gd name="T13" fmla="*/ 333 h 667"/>
                <a:gd name="T14" fmla="*/ 333 w 666"/>
                <a:gd name="T15" fmla="*/ 640 h 667"/>
                <a:gd name="T16" fmla="*/ 26 w 666"/>
                <a:gd name="T17" fmla="*/ 333 h 667"/>
                <a:gd name="T18" fmla="*/ 333 w 666"/>
                <a:gd name="T19" fmla="*/ 27 h 667"/>
                <a:gd name="T20" fmla="*/ 317 w 666"/>
                <a:gd name="T21" fmla="*/ 172 h 667"/>
                <a:gd name="T22" fmla="*/ 312 w 666"/>
                <a:gd name="T23" fmla="*/ 177 h 667"/>
                <a:gd name="T24" fmla="*/ 312 w 666"/>
                <a:gd name="T25" fmla="*/ 212 h 667"/>
                <a:gd name="T26" fmla="*/ 317 w 666"/>
                <a:gd name="T27" fmla="*/ 217 h 667"/>
                <a:gd name="T28" fmla="*/ 349 w 666"/>
                <a:gd name="T29" fmla="*/ 217 h 667"/>
                <a:gd name="T30" fmla="*/ 354 w 666"/>
                <a:gd name="T31" fmla="*/ 212 h 667"/>
                <a:gd name="T32" fmla="*/ 354 w 666"/>
                <a:gd name="T33" fmla="*/ 177 h 667"/>
                <a:gd name="T34" fmla="*/ 349 w 666"/>
                <a:gd name="T35" fmla="*/ 172 h 667"/>
                <a:gd name="T36" fmla="*/ 317 w 666"/>
                <a:gd name="T37" fmla="*/ 172 h 667"/>
                <a:gd name="T38" fmla="*/ 318 w 666"/>
                <a:gd name="T39" fmla="*/ 268 h 667"/>
                <a:gd name="T40" fmla="*/ 313 w 666"/>
                <a:gd name="T41" fmla="*/ 273 h 667"/>
                <a:gd name="T42" fmla="*/ 313 w 666"/>
                <a:gd name="T43" fmla="*/ 492 h 667"/>
                <a:gd name="T44" fmla="*/ 318 w 666"/>
                <a:gd name="T45" fmla="*/ 497 h 667"/>
                <a:gd name="T46" fmla="*/ 348 w 666"/>
                <a:gd name="T47" fmla="*/ 497 h 667"/>
                <a:gd name="T48" fmla="*/ 353 w 666"/>
                <a:gd name="T49" fmla="*/ 492 h 667"/>
                <a:gd name="T50" fmla="*/ 353 w 666"/>
                <a:gd name="T51" fmla="*/ 273 h 667"/>
                <a:gd name="T52" fmla="*/ 348 w 666"/>
                <a:gd name="T53" fmla="*/ 268 h 667"/>
                <a:gd name="T54" fmla="*/ 318 w 666"/>
                <a:gd name="T55" fmla="*/ 268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66" h="667">
                  <a:moveTo>
                    <a:pt x="333" y="0"/>
                  </a:moveTo>
                  <a:cubicBezTo>
                    <a:pt x="149" y="0"/>
                    <a:pt x="0" y="149"/>
                    <a:pt x="0" y="333"/>
                  </a:cubicBezTo>
                  <a:cubicBezTo>
                    <a:pt x="0" y="517"/>
                    <a:pt x="149" y="667"/>
                    <a:pt x="333" y="667"/>
                  </a:cubicBezTo>
                  <a:cubicBezTo>
                    <a:pt x="517" y="667"/>
                    <a:pt x="666" y="517"/>
                    <a:pt x="666" y="333"/>
                  </a:cubicBezTo>
                  <a:cubicBezTo>
                    <a:pt x="666" y="149"/>
                    <a:pt x="517" y="0"/>
                    <a:pt x="333" y="0"/>
                  </a:cubicBezTo>
                  <a:close/>
                  <a:moveTo>
                    <a:pt x="333" y="27"/>
                  </a:moveTo>
                  <a:cubicBezTo>
                    <a:pt x="502" y="27"/>
                    <a:pt x="640" y="164"/>
                    <a:pt x="640" y="333"/>
                  </a:cubicBezTo>
                  <a:cubicBezTo>
                    <a:pt x="640" y="503"/>
                    <a:pt x="502" y="640"/>
                    <a:pt x="333" y="640"/>
                  </a:cubicBezTo>
                  <a:cubicBezTo>
                    <a:pt x="163" y="640"/>
                    <a:pt x="26" y="503"/>
                    <a:pt x="26" y="333"/>
                  </a:cubicBezTo>
                  <a:cubicBezTo>
                    <a:pt x="26" y="164"/>
                    <a:pt x="163" y="27"/>
                    <a:pt x="333" y="27"/>
                  </a:cubicBezTo>
                  <a:close/>
                  <a:moveTo>
                    <a:pt x="317" y="172"/>
                  </a:moveTo>
                  <a:cubicBezTo>
                    <a:pt x="314" y="172"/>
                    <a:pt x="312" y="174"/>
                    <a:pt x="312" y="177"/>
                  </a:cubicBezTo>
                  <a:lnTo>
                    <a:pt x="312" y="212"/>
                  </a:lnTo>
                  <a:cubicBezTo>
                    <a:pt x="312" y="215"/>
                    <a:pt x="314" y="217"/>
                    <a:pt x="317" y="217"/>
                  </a:cubicBezTo>
                  <a:lnTo>
                    <a:pt x="349" y="217"/>
                  </a:lnTo>
                  <a:cubicBezTo>
                    <a:pt x="352" y="217"/>
                    <a:pt x="354" y="215"/>
                    <a:pt x="354" y="212"/>
                  </a:cubicBezTo>
                  <a:lnTo>
                    <a:pt x="354" y="177"/>
                  </a:lnTo>
                  <a:cubicBezTo>
                    <a:pt x="354" y="174"/>
                    <a:pt x="352" y="172"/>
                    <a:pt x="349" y="172"/>
                  </a:cubicBezTo>
                  <a:lnTo>
                    <a:pt x="317" y="172"/>
                  </a:lnTo>
                  <a:close/>
                  <a:moveTo>
                    <a:pt x="318" y="268"/>
                  </a:moveTo>
                  <a:cubicBezTo>
                    <a:pt x="315" y="268"/>
                    <a:pt x="313" y="270"/>
                    <a:pt x="313" y="273"/>
                  </a:cubicBezTo>
                  <a:lnTo>
                    <a:pt x="313" y="492"/>
                  </a:lnTo>
                  <a:cubicBezTo>
                    <a:pt x="313" y="495"/>
                    <a:pt x="315" y="497"/>
                    <a:pt x="318" y="497"/>
                  </a:cubicBezTo>
                  <a:lnTo>
                    <a:pt x="348" y="497"/>
                  </a:lnTo>
                  <a:cubicBezTo>
                    <a:pt x="351" y="497"/>
                    <a:pt x="353" y="495"/>
                    <a:pt x="353" y="492"/>
                  </a:cubicBezTo>
                  <a:lnTo>
                    <a:pt x="353" y="273"/>
                  </a:lnTo>
                  <a:cubicBezTo>
                    <a:pt x="353" y="270"/>
                    <a:pt x="351" y="268"/>
                    <a:pt x="348" y="268"/>
                  </a:cubicBezTo>
                  <a:lnTo>
                    <a:pt x="318" y="26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2" name="TextBox 231">
            <a:extLst>
              <a:ext uri="{FF2B5EF4-FFF2-40B4-BE49-F238E27FC236}">
                <a16:creationId xmlns:a16="http://schemas.microsoft.com/office/drawing/2014/main" id="{9AD5CBD0-2860-C64A-BE77-A35125F43DFA}"/>
              </a:ext>
            </a:extLst>
          </p:cNvPr>
          <p:cNvSpPr txBox="1"/>
          <p:nvPr/>
        </p:nvSpPr>
        <p:spPr>
          <a:xfrm>
            <a:off x="1768001" y="6026941"/>
            <a:ext cx="28373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100" dirty="0">
                <a:solidFill>
                  <a:srgbClr val="C0000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10%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76556" y="5808869"/>
            <a:ext cx="2813452" cy="720771"/>
          </a:xfrm>
          <a:prstGeom prst="roundRect">
            <a:avLst>
              <a:gd name="adj" fmla="val 7867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470582" y="4624332"/>
            <a:ext cx="1845805" cy="20723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5" name="그룹 124"/>
          <p:cNvGrpSpPr/>
          <p:nvPr/>
        </p:nvGrpSpPr>
        <p:grpSpPr>
          <a:xfrm>
            <a:off x="378000" y="703734"/>
            <a:ext cx="2998800" cy="3320799"/>
            <a:chOff x="378000" y="910613"/>
            <a:chExt cx="2998800" cy="3603595"/>
          </a:xfrm>
        </p:grpSpPr>
        <p:sp>
          <p:nvSpPr>
            <p:cNvPr id="128" name="직사각형 127"/>
            <p:cNvSpPr/>
            <p:nvPr/>
          </p:nvSpPr>
          <p:spPr>
            <a:xfrm>
              <a:off x="387350" y="920344"/>
              <a:ext cx="2989450" cy="35938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31" name="직선 연결선[R] 4">
              <a:extLst>
                <a:ext uri="{FF2B5EF4-FFF2-40B4-BE49-F238E27FC236}">
                  <a16:creationId xmlns:a16="http://schemas.microsoft.com/office/drawing/2014/main" id="{E293BB4E-7411-BA45-932C-44FEF919DE74}"/>
                </a:ext>
              </a:extLst>
            </p:cNvPr>
            <p:cNvCxnSpPr>
              <a:cxnSpLocks/>
            </p:cNvCxnSpPr>
            <p:nvPr/>
          </p:nvCxnSpPr>
          <p:spPr>
            <a:xfrm>
              <a:off x="378000" y="910614"/>
              <a:ext cx="2998800" cy="359839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[R] 25">
              <a:extLst>
                <a:ext uri="{FF2B5EF4-FFF2-40B4-BE49-F238E27FC236}">
                  <a16:creationId xmlns:a16="http://schemas.microsoft.com/office/drawing/2014/main" id="{72F9A0A3-E94C-D74C-8F47-8E8DC62557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001" y="910613"/>
              <a:ext cx="2998309" cy="3598395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4" name="Picture 3" descr="C:\Users\RB-N-088\Desktop\icon\1489644272_icon-ios7-arrow-back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23" y="834192"/>
            <a:ext cx="232832" cy="232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9AD5CBD0-2860-C64A-BE77-A35125F43DFA}"/>
              </a:ext>
            </a:extLst>
          </p:cNvPr>
          <p:cNvSpPr txBox="1"/>
          <p:nvPr/>
        </p:nvSpPr>
        <p:spPr>
          <a:xfrm>
            <a:off x="477725" y="4389533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올레드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evo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38" name="그룹 137"/>
          <p:cNvGrpSpPr/>
          <p:nvPr/>
        </p:nvGrpSpPr>
        <p:grpSpPr>
          <a:xfrm>
            <a:off x="484225" y="4787252"/>
            <a:ext cx="1028663" cy="138499"/>
            <a:chOff x="1242840" y="4213132"/>
            <a:chExt cx="1028663" cy="138499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AD5CBD0-2860-C64A-BE77-A35125F43DFA}"/>
                </a:ext>
              </a:extLst>
            </p:cNvPr>
            <p:cNvSpPr txBox="1"/>
            <p:nvPr/>
          </p:nvSpPr>
          <p:spPr>
            <a:xfrm>
              <a:off x="1388248" y="4213132"/>
              <a:ext cx="88325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900" dirty="0">
                  <a:latin typeface="LG스마트체 Light" panose="020B0600000101010101" pitchFamily="50" charset="-127"/>
                  <a:ea typeface="LG스마트체 Light" panose="020B0600000101010101" pitchFamily="50" charset="-127"/>
                </a:rPr>
                <a:t>65aRT90EKPB </a:t>
              </a:r>
              <a:r>
                <a:rPr lang="ko-KR" altLang="en-US" sz="900" dirty="0">
                  <a:latin typeface="LG스마트체 Light" panose="020B0600000101010101" pitchFamily="50" charset="-127"/>
                  <a:ea typeface="LG스마트체 Light" panose="020B0600000101010101" pitchFamily="50" charset="-127"/>
                </a:rPr>
                <a:t>│</a:t>
              </a:r>
              <a:endParaRPr lang="en-US" altLang="ko-KR" sz="900" dirty="0">
                <a:latin typeface="LG스마트체 Light" panose="020B0600000101010101" pitchFamily="50" charset="-127"/>
                <a:ea typeface="LG스마트체 Light" panose="020B0600000101010101" pitchFamily="50" charset="-127"/>
              </a:endParaRPr>
            </a:p>
          </p:txBody>
        </p:sp>
        <p:sp>
          <p:nvSpPr>
            <p:cNvPr id="144" name="Edit File"/>
            <p:cNvSpPr>
              <a:spLocks noChangeAspect="1" noEditPoints="1"/>
            </p:cNvSpPr>
            <p:nvPr/>
          </p:nvSpPr>
          <p:spPr bwMode="auto">
            <a:xfrm>
              <a:off x="1242840" y="4217001"/>
              <a:ext cx="111819" cy="121235"/>
            </a:xfrm>
            <a:custGeom>
              <a:avLst/>
              <a:gdLst>
                <a:gd name="T0" fmla="*/ 0 w 623"/>
                <a:gd name="T1" fmla="*/ 0 h 669"/>
                <a:gd name="T2" fmla="*/ 0 w 623"/>
                <a:gd name="T3" fmla="*/ 640 h 669"/>
                <a:gd name="T4" fmla="*/ 226 w 623"/>
                <a:gd name="T5" fmla="*/ 640 h 669"/>
                <a:gd name="T6" fmla="*/ 226 w 623"/>
                <a:gd name="T7" fmla="*/ 613 h 669"/>
                <a:gd name="T8" fmla="*/ 26 w 623"/>
                <a:gd name="T9" fmla="*/ 613 h 669"/>
                <a:gd name="T10" fmla="*/ 26 w 623"/>
                <a:gd name="T11" fmla="*/ 26 h 669"/>
                <a:gd name="T12" fmla="*/ 266 w 623"/>
                <a:gd name="T13" fmla="*/ 26 h 669"/>
                <a:gd name="T14" fmla="*/ 266 w 623"/>
                <a:gd name="T15" fmla="*/ 213 h 669"/>
                <a:gd name="T16" fmla="*/ 453 w 623"/>
                <a:gd name="T17" fmla="*/ 213 h 669"/>
                <a:gd name="T18" fmla="*/ 453 w 623"/>
                <a:gd name="T19" fmla="*/ 360 h 669"/>
                <a:gd name="T20" fmla="*/ 480 w 623"/>
                <a:gd name="T21" fmla="*/ 360 h 669"/>
                <a:gd name="T22" fmla="*/ 480 w 623"/>
                <a:gd name="T23" fmla="*/ 194 h 669"/>
                <a:gd name="T24" fmla="*/ 285 w 623"/>
                <a:gd name="T25" fmla="*/ 0 h 669"/>
                <a:gd name="T26" fmla="*/ 0 w 623"/>
                <a:gd name="T27" fmla="*/ 0 h 669"/>
                <a:gd name="T28" fmla="*/ 293 w 623"/>
                <a:gd name="T29" fmla="*/ 45 h 669"/>
                <a:gd name="T30" fmla="*/ 434 w 623"/>
                <a:gd name="T31" fmla="*/ 186 h 669"/>
                <a:gd name="T32" fmla="*/ 293 w 623"/>
                <a:gd name="T33" fmla="*/ 186 h 669"/>
                <a:gd name="T34" fmla="*/ 293 w 623"/>
                <a:gd name="T35" fmla="*/ 45 h 669"/>
                <a:gd name="T36" fmla="*/ 559 w 623"/>
                <a:gd name="T37" fmla="*/ 332 h 669"/>
                <a:gd name="T38" fmla="*/ 511 w 623"/>
                <a:gd name="T39" fmla="*/ 358 h 669"/>
                <a:gd name="T40" fmla="*/ 305 w 623"/>
                <a:gd name="T41" fmla="*/ 564 h 669"/>
                <a:gd name="T42" fmla="*/ 302 w 623"/>
                <a:gd name="T43" fmla="*/ 569 h 669"/>
                <a:gd name="T44" fmla="*/ 279 w 623"/>
                <a:gd name="T45" fmla="*/ 649 h 669"/>
                <a:gd name="T46" fmla="*/ 295 w 623"/>
                <a:gd name="T47" fmla="*/ 666 h 669"/>
                <a:gd name="T48" fmla="*/ 375 w 623"/>
                <a:gd name="T49" fmla="*/ 645 h 669"/>
                <a:gd name="T50" fmla="*/ 381 w 623"/>
                <a:gd name="T51" fmla="*/ 641 h 669"/>
                <a:gd name="T52" fmla="*/ 592 w 623"/>
                <a:gd name="T53" fmla="*/ 432 h 669"/>
                <a:gd name="T54" fmla="*/ 597 w 623"/>
                <a:gd name="T55" fmla="*/ 348 h 669"/>
                <a:gd name="T56" fmla="*/ 559 w 623"/>
                <a:gd name="T57" fmla="*/ 332 h 669"/>
                <a:gd name="T58" fmla="*/ 530 w 623"/>
                <a:gd name="T59" fmla="*/ 376 h 669"/>
                <a:gd name="T60" fmla="*/ 570 w 623"/>
                <a:gd name="T61" fmla="*/ 416 h 669"/>
                <a:gd name="T62" fmla="*/ 365 w 623"/>
                <a:gd name="T63" fmla="*/ 620 h 669"/>
                <a:gd name="T64" fmla="*/ 326 w 623"/>
                <a:gd name="T65" fmla="*/ 582 h 669"/>
                <a:gd name="T66" fmla="*/ 326 w 623"/>
                <a:gd name="T67" fmla="*/ 580 h 669"/>
                <a:gd name="T68" fmla="*/ 530 w 623"/>
                <a:gd name="T69" fmla="*/ 376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3" h="669">
                  <a:moveTo>
                    <a:pt x="0" y="0"/>
                  </a:moveTo>
                  <a:lnTo>
                    <a:pt x="0" y="640"/>
                  </a:lnTo>
                  <a:lnTo>
                    <a:pt x="226" y="640"/>
                  </a:lnTo>
                  <a:cubicBezTo>
                    <a:pt x="245" y="640"/>
                    <a:pt x="245" y="613"/>
                    <a:pt x="226" y="613"/>
                  </a:cubicBezTo>
                  <a:lnTo>
                    <a:pt x="26" y="613"/>
                  </a:lnTo>
                  <a:lnTo>
                    <a:pt x="26" y="26"/>
                  </a:lnTo>
                  <a:lnTo>
                    <a:pt x="266" y="26"/>
                  </a:lnTo>
                  <a:lnTo>
                    <a:pt x="266" y="213"/>
                  </a:lnTo>
                  <a:lnTo>
                    <a:pt x="453" y="213"/>
                  </a:lnTo>
                  <a:lnTo>
                    <a:pt x="453" y="360"/>
                  </a:lnTo>
                  <a:cubicBezTo>
                    <a:pt x="453" y="378"/>
                    <a:pt x="480" y="378"/>
                    <a:pt x="480" y="360"/>
                  </a:cubicBezTo>
                  <a:lnTo>
                    <a:pt x="480" y="194"/>
                  </a:lnTo>
                  <a:lnTo>
                    <a:pt x="285" y="0"/>
                  </a:lnTo>
                  <a:lnTo>
                    <a:pt x="0" y="0"/>
                  </a:lnTo>
                  <a:close/>
                  <a:moveTo>
                    <a:pt x="293" y="45"/>
                  </a:moveTo>
                  <a:lnTo>
                    <a:pt x="434" y="186"/>
                  </a:lnTo>
                  <a:lnTo>
                    <a:pt x="293" y="186"/>
                  </a:lnTo>
                  <a:lnTo>
                    <a:pt x="293" y="45"/>
                  </a:lnTo>
                  <a:close/>
                  <a:moveTo>
                    <a:pt x="559" y="332"/>
                  </a:moveTo>
                  <a:cubicBezTo>
                    <a:pt x="536" y="334"/>
                    <a:pt x="524" y="342"/>
                    <a:pt x="511" y="358"/>
                  </a:cubicBezTo>
                  <a:lnTo>
                    <a:pt x="305" y="564"/>
                  </a:lnTo>
                  <a:cubicBezTo>
                    <a:pt x="303" y="565"/>
                    <a:pt x="302" y="567"/>
                    <a:pt x="302" y="569"/>
                  </a:cubicBezTo>
                  <a:lnTo>
                    <a:pt x="279" y="649"/>
                  </a:lnTo>
                  <a:cubicBezTo>
                    <a:pt x="276" y="659"/>
                    <a:pt x="285" y="669"/>
                    <a:pt x="295" y="666"/>
                  </a:cubicBezTo>
                  <a:lnTo>
                    <a:pt x="375" y="645"/>
                  </a:lnTo>
                  <a:cubicBezTo>
                    <a:pt x="378" y="644"/>
                    <a:pt x="380" y="643"/>
                    <a:pt x="381" y="641"/>
                  </a:cubicBezTo>
                  <a:lnTo>
                    <a:pt x="592" y="432"/>
                  </a:lnTo>
                  <a:cubicBezTo>
                    <a:pt x="623" y="401"/>
                    <a:pt x="622" y="372"/>
                    <a:pt x="597" y="348"/>
                  </a:cubicBezTo>
                  <a:cubicBezTo>
                    <a:pt x="587" y="337"/>
                    <a:pt x="573" y="332"/>
                    <a:pt x="559" y="332"/>
                  </a:cubicBezTo>
                  <a:close/>
                  <a:moveTo>
                    <a:pt x="530" y="376"/>
                  </a:moveTo>
                  <a:lnTo>
                    <a:pt x="570" y="416"/>
                  </a:lnTo>
                  <a:lnTo>
                    <a:pt x="365" y="620"/>
                  </a:lnTo>
                  <a:lnTo>
                    <a:pt x="326" y="582"/>
                  </a:lnTo>
                  <a:lnTo>
                    <a:pt x="326" y="580"/>
                  </a:lnTo>
                  <a:lnTo>
                    <a:pt x="530" y="376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7" name="Google Shape;64;p67">
            <a:extLst>
              <a:ext uri="{FF2B5EF4-FFF2-40B4-BE49-F238E27FC236}">
                <a16:creationId xmlns:a16="http://schemas.microsoft.com/office/drawing/2014/main" id="{B1D93E8B-9BE3-4640-BAF1-A8FA14A04D41}"/>
              </a:ext>
            </a:extLst>
          </p:cNvPr>
          <p:cNvSpPr/>
          <p:nvPr/>
        </p:nvSpPr>
        <p:spPr>
          <a:xfrm>
            <a:off x="379426" y="710869"/>
            <a:ext cx="2999225" cy="594625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36000" rIns="72000" bIns="36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AD5CBD0-2860-C64A-BE77-A35125F43DFA}"/>
              </a:ext>
            </a:extLst>
          </p:cNvPr>
          <p:cNvSpPr txBox="1"/>
          <p:nvPr/>
        </p:nvSpPr>
        <p:spPr>
          <a:xfrm>
            <a:off x="1530143" y="4791011"/>
            <a:ext cx="822341" cy="1308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50" u="sng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★ </a:t>
            </a:r>
            <a:r>
              <a:rPr lang="en-US" altLang="ko-KR" sz="850" u="sng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4.89 (999+) &gt;</a:t>
            </a: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278616" y="1216615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268920" y="819256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371374" y="4320364"/>
            <a:ext cx="529559" cy="215444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r>
              <a:rPr lang="ko-KR" altLang="en-US" sz="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매립배관형</a:t>
            </a:r>
            <a:endParaRPr lang="ko-KR" altLang="en-US" sz="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408238" y="4332321"/>
            <a:ext cx="454237" cy="159968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300907" y="4393149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3d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1845172" y="4299781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3f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66" name="그림 165">
            <a:extLst>
              <a:ext uri="{FF2B5EF4-FFF2-40B4-BE49-F238E27FC236}">
                <a16:creationId xmlns:a16="http://schemas.microsoft.com/office/drawing/2014/main" id="{163B2CC2-CF92-B74C-84EC-7D44A88C4A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230" y="4351501"/>
            <a:ext cx="180948" cy="180954"/>
          </a:xfrm>
          <a:prstGeom prst="rect">
            <a:avLst/>
          </a:prstGeom>
        </p:spPr>
      </p:pic>
      <p:sp>
        <p:nvSpPr>
          <p:cNvPr id="168" name="오른쪽 대괄호 164">
            <a:extLst>
              <a:ext uri="{FF2B5EF4-FFF2-40B4-BE49-F238E27FC236}">
                <a16:creationId xmlns:a16="http://schemas.microsoft.com/office/drawing/2014/main" id="{006B021D-FD8F-6641-9E6B-B1C33DF3A761}"/>
              </a:ext>
            </a:extLst>
          </p:cNvPr>
          <p:cNvSpPr/>
          <p:nvPr/>
        </p:nvSpPr>
        <p:spPr>
          <a:xfrm flipH="1">
            <a:off x="290789" y="4120333"/>
            <a:ext cx="105363" cy="504000"/>
          </a:xfrm>
          <a:prstGeom prst="rightBracket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199627" y="4041393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301114" y="4772503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5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461515" y="4741276"/>
            <a:ext cx="943013" cy="21053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/>
          <p:cNvSpPr/>
          <p:nvPr/>
        </p:nvSpPr>
        <p:spPr>
          <a:xfrm>
            <a:off x="3100039" y="4320364"/>
            <a:ext cx="236859" cy="253836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2695853" y="4299781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84" name="그림 183">
            <a:extLst>
              <a:ext uri="{FF2B5EF4-FFF2-40B4-BE49-F238E27FC236}">
                <a16:creationId xmlns:a16="http://schemas.microsoft.com/office/drawing/2014/main" id="{5C95FA12-C72C-EC43-87AC-E320C1E7B9D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33029" y="827103"/>
            <a:ext cx="219875" cy="219875"/>
          </a:xfrm>
          <a:prstGeom prst="rect">
            <a:avLst/>
          </a:prstGeom>
        </p:spPr>
      </p:pic>
      <p:sp>
        <p:nvSpPr>
          <p:cNvPr id="185" name="Search"/>
          <p:cNvSpPr>
            <a:spLocks noChangeAspect="1" noEditPoints="1"/>
          </p:cNvSpPr>
          <p:nvPr/>
        </p:nvSpPr>
        <p:spPr bwMode="auto">
          <a:xfrm>
            <a:off x="2419496" y="857001"/>
            <a:ext cx="166132" cy="169907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rgbClr val="404040"/>
          </a:solidFill>
          <a:ln>
            <a:solidFill>
              <a:srgbClr val="40404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8" name="그림 187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13" y="834192"/>
            <a:ext cx="188927" cy="188927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Fold </a:t>
            </a:r>
            <a:r>
              <a:rPr lang="ko-KR" altLang="en-US" dirty="0"/>
              <a:t>영역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PDP</a:t>
            </a:r>
            <a:endParaRPr lang="ko-KR" altLang="en-US" dirty="0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335F1D71-53A8-D94B-9E79-7CB6295A5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531851"/>
              </p:ext>
            </p:extLst>
          </p:nvPr>
        </p:nvGraphicFramePr>
        <p:xfrm>
          <a:off x="8390391" y="547200"/>
          <a:ext cx="3492578" cy="9512471"/>
        </p:xfrm>
        <a:graphic>
          <a:graphicData uri="http://schemas.openxmlformats.org/drawingml/2006/table">
            <a:tbl>
              <a:tblPr/>
              <a:tblGrid>
                <a:gridCol w="324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736">
                <a:tc gridSpan="2">
                  <a:txBody>
                    <a:bodyPr/>
                    <a:lstStyle/>
                    <a:p>
                      <a:pPr marL="0" marR="0" lvl="0" indent="0" algn="ctr" defTabSz="87153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화면 설명</a:t>
                      </a:r>
                    </a:p>
                  </a:txBody>
                  <a:tcPr marL="30202" marR="30202" marT="39183" marB="391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7153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9" marR="36009" marT="35943" marB="35943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217">
                <a:tc gridSpan="2">
                  <a:txBody>
                    <a:bodyPr/>
                    <a:lstStyle/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Fold 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영역 정의</a:t>
                      </a:r>
                      <a:endParaRPr lang="en-US" altLang="ko-KR" sz="7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0202" marR="30202" marT="39183" marB="391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871538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9" marR="36009" marT="35943" marB="3594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0202" marR="30202" marT="39183" marB="391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0" indent="-93663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1" dirty="0">
                          <a:latin typeface="맑은 고딕" panose="020B0503020000020004" pitchFamily="50" charset="-127"/>
                          <a:ea typeface="+mn-ea"/>
                        </a:rPr>
                        <a:t>[Sticky</a:t>
                      </a: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 Header</a:t>
                      </a:r>
                      <a:r>
                        <a:rPr lang="en-US" altLang="ko-KR" sz="700" b="1" dirty="0">
                          <a:latin typeface="맑은 고딕" panose="020B0503020000020004" pitchFamily="50" charset="-127"/>
                          <a:ea typeface="+mn-ea"/>
                        </a:rPr>
                        <a:t>]</a:t>
                      </a:r>
                      <a:r>
                        <a:rPr kumimoji="1" lang="en-US" altLang="ko-KR" sz="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헤더 공통 정의는 하기 최신 공통 문서 정의 참조</a:t>
                      </a:r>
                    </a:p>
                    <a:p>
                      <a:pPr marL="180000" marR="0" lvl="0" indent="-9360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strike="noStrike" kern="1200" cap="none" baseline="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문서명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: </a:t>
                      </a:r>
                      <a:r>
                        <a:rPr lang="en" altLang="ko-KR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LGEKR5.0-UIX-DE-02-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스토리보드</a:t>
                      </a:r>
                      <a:r>
                        <a:rPr lang="en-US" altLang="ko-KR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-</a:t>
                      </a:r>
                      <a:r>
                        <a:rPr lang="en" altLang="ko-KR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F-(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공통</a:t>
                      </a:r>
                      <a:r>
                        <a:rPr lang="en" altLang="ko-KR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GNB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개선</a:t>
                      </a:r>
                      <a:r>
                        <a:rPr lang="en-US" altLang="ko-KR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)-</a:t>
                      </a:r>
                      <a:r>
                        <a:rPr lang="en" altLang="ko-KR" sz="700" b="0" i="0" u="none" strike="noStrike" kern="1200" cap="none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V0.0.pptx</a:t>
                      </a:r>
                    </a:p>
                  </a:txBody>
                  <a:tcPr marL="33239" marR="33239" marT="33178" marB="33178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0202" marR="30202" marT="39183" marB="391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0" indent="-93663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1" dirty="0">
                          <a:latin typeface="맑은 고딕" panose="020B0503020000020004" pitchFamily="50" charset="-127"/>
                          <a:ea typeface="+mn-ea"/>
                        </a:rPr>
                        <a:t>[Key</a:t>
                      </a: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 Visual 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영역</a:t>
                      </a:r>
                      <a:r>
                        <a:rPr lang="en-US" altLang="ko-KR" sz="700" b="1" dirty="0">
                          <a:latin typeface="맑은 고딕" panose="020B0503020000020004" pitchFamily="50" charset="-127"/>
                          <a:ea typeface="+mn-ea"/>
                        </a:rPr>
                        <a:t>] – WCMS </a:t>
                      </a:r>
                      <a:r>
                        <a:rPr lang="ko-KR" altLang="en-US" sz="700" b="1" dirty="0" err="1">
                          <a:latin typeface="맑은 고딕" panose="020B0503020000020004" pitchFamily="50" charset="-127"/>
                          <a:ea typeface="+mn-ea"/>
                        </a:rPr>
                        <a:t>콘텐츠</a:t>
                      </a:r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+mn-ea"/>
                        </a:rPr>
                        <a:t> 등록</a:t>
                      </a:r>
                      <a:endParaRPr lang="en-US" altLang="ko-KR" sz="700" b="0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80000" marR="0" lvl="0" indent="-9360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제품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visual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정보 제공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동영상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&amp;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이미지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제품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인테리어컷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상세컷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80000" marR="0" lvl="0" indent="-9360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노출 순서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en-US" altLang="ko-KR" sz="700" baseline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[PDP Key visual </a:t>
                      </a:r>
                      <a:r>
                        <a:rPr lang="ko-KR" altLang="en-US" sz="700" baseline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영역 </a:t>
                      </a:r>
                      <a:r>
                        <a:rPr lang="en-US" altLang="ko-KR" sz="700" baseline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700" baseline="0" dirty="0" err="1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갤러리뷰</a:t>
                      </a:r>
                      <a:r>
                        <a:rPr lang="ko-KR" altLang="en-US" sz="700" baseline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팝업 </a:t>
                      </a:r>
                      <a:r>
                        <a:rPr lang="en-US" altLang="ko-KR" sz="700" baseline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700" baseline="0" dirty="0" err="1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</a:t>
                      </a:r>
                      <a:r>
                        <a:rPr lang="ko-KR" altLang="en-US" sz="700" baseline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타입별</a:t>
                      </a:r>
                      <a:r>
                        <a:rPr lang="ko-KR" altLang="en-US" sz="700" baseline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노출 순서 정의</a:t>
                      </a:r>
                      <a:r>
                        <a:rPr lang="en-US" altLang="ko-KR" sz="700" baseline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700" baseline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endParaRPr lang="en-US" altLang="ko-KR" sz="70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80000" marR="0" lvl="0" indent="-9360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좌우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swipe :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이전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다음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콘텐츠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노출</a:t>
                      </a:r>
                      <a:endParaRPr lang="en-US" altLang="ko-KR" sz="70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80000" marR="0" lvl="0" indent="-9360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동영상</a:t>
                      </a:r>
                      <a:r>
                        <a:rPr lang="ko-KR" altLang="en-US" sz="700" b="0" i="0" u="none" strike="noStrike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: </a:t>
                      </a:r>
                      <a:r>
                        <a:rPr lang="ko-KR" altLang="en-US" sz="700" u="none" baseline="0" dirty="0">
                          <a:latin typeface="맑은 고딕" panose="020B0503020000020004" pitchFamily="50" charset="-127"/>
                          <a:ea typeface="+mn-ea"/>
                        </a:rPr>
                        <a:t>선택 시</a:t>
                      </a:r>
                      <a:r>
                        <a:rPr lang="en-US" altLang="ko-KR" sz="700" u="none" baseline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700" u="none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700" u="none" kern="1200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[PDP0001]</a:t>
                      </a:r>
                      <a:r>
                        <a:rPr lang="ko-KR" altLang="en-US" sz="700" u="none" baseline="0" dirty="0" err="1">
                          <a:latin typeface="맑은 고딕" panose="020B0503020000020004" pitchFamily="50" charset="-127"/>
                          <a:ea typeface="+mn-ea"/>
                        </a:rPr>
                        <a:t>갤러리뷰</a:t>
                      </a:r>
                      <a:r>
                        <a:rPr lang="ko-KR" altLang="en-US" sz="700" u="none" baseline="0" dirty="0">
                          <a:latin typeface="맑은 고딕" panose="020B0503020000020004" pitchFamily="50" charset="-127"/>
                          <a:ea typeface="+mn-ea"/>
                        </a:rPr>
                        <a:t> 팝업 노출되며 동영상 재생</a:t>
                      </a:r>
                      <a:b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700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ㄴ </a:t>
                      </a:r>
                      <a:r>
                        <a:rPr lang="en-US" altLang="ko-KR" sz="700" baseline="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Youtube</a:t>
                      </a:r>
                      <a:r>
                        <a:rPr lang="en-US" altLang="ko-KR" sz="700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case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 : WCMS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에 등록한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썸네일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이미지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+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재생아이콘 노출</a:t>
                      </a:r>
                      <a:br>
                        <a:rPr lang="en-US" altLang="ko-KR" sz="700" u="none" baseline="0" dirty="0"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700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ㄴ </a:t>
                      </a:r>
                      <a:r>
                        <a:rPr lang="en-US" altLang="ko-KR" sz="700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Video File case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동영상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음소거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상태로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자동반복재생</a:t>
                      </a:r>
                      <a:endParaRPr lang="en-US" altLang="ko-KR" sz="70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80000" marR="0" lvl="0" indent="-9360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이미지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700" i="0" u="none" baseline="0" dirty="0">
                          <a:latin typeface="맑은 고딕" panose="020B0503020000020004" pitchFamily="50" charset="-127"/>
                          <a:ea typeface="+mn-ea"/>
                        </a:rPr>
                        <a:t>선택 시</a:t>
                      </a:r>
                      <a:r>
                        <a:rPr lang="en-US" altLang="ko-KR" sz="700" i="0" u="none" baseline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700" i="0" u="none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700" u="none" kern="1200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[PDP0001] </a:t>
                      </a:r>
                      <a:r>
                        <a:rPr lang="ko-KR" altLang="en-US" sz="700" b="0" i="0" u="none" strike="noStrike" cap="none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갤러리뷰</a:t>
                      </a:r>
                      <a:r>
                        <a:rPr lang="ko-KR" altLang="en-US" sz="700" u="none" baseline="0" dirty="0">
                          <a:latin typeface="맑은 고딕" panose="020B0503020000020004" pitchFamily="50" charset="-127"/>
                          <a:ea typeface="+mn-ea"/>
                        </a:rPr>
                        <a:t> 팝업 노출</a:t>
                      </a:r>
                      <a:endParaRPr lang="en-US" altLang="ko-KR" sz="700" u="none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86400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2a) </a:t>
                      </a:r>
                      <a:r>
                        <a:rPr lang="ko-KR" altLang="en-US" sz="700" b="1" baseline="0" dirty="0" err="1">
                          <a:latin typeface="맑은 고딕" panose="020B0503020000020004" pitchFamily="50" charset="-127"/>
                          <a:ea typeface="+mn-ea"/>
                        </a:rPr>
                        <a:t>인디케이터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등록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콘텐츠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개 이상일 경우 노출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700" b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6213" marR="0" lvl="0" indent="-90488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현재 노출 중인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콘텐츠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순서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총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콘텐츠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수 노출</a:t>
                      </a:r>
                    </a:p>
                    <a:p>
                      <a:pPr marL="176213" marR="0" lvl="0" indent="-90488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이전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다음 이동 버튼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선택 시 이전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다음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콘텐츠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이동</a:t>
                      </a:r>
                      <a:b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(ex.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제일 마지막에서 다음 선택 시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첫번째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콘텐츠로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이동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700" b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2b) </a:t>
                      </a:r>
                      <a:r>
                        <a:rPr lang="ko-KR" altLang="en-US" sz="700" b="1" baseline="0" dirty="0" err="1">
                          <a:latin typeface="맑은 고딕" panose="020B0503020000020004" pitchFamily="50" charset="-127"/>
                          <a:ea typeface="+mn-ea"/>
                        </a:rPr>
                        <a:t>일시정지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⇔재생 </a:t>
                      </a:r>
                      <a:r>
                        <a:rPr lang="ko-KR" altLang="en-US" sz="700" b="1" baseline="0" dirty="0" err="1">
                          <a:latin typeface="맑은 고딕" panose="020B0503020000020004" pitchFamily="50" charset="-127"/>
                          <a:ea typeface="+mn-ea"/>
                        </a:rPr>
                        <a:t>토글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 버튼</a:t>
                      </a:r>
                      <a:r>
                        <a:rPr lang="en-US" altLang="ko-KR" sz="700" b="1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(Optional)</a:t>
                      </a:r>
                      <a:endParaRPr lang="en-US" altLang="ko-KR" sz="70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6213" marR="0" lvl="0" indent="-90488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버튼 선택 시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영상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일시정지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⇔재생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en-US" altLang="ko-KR" sz="7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동영상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(video file)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에만 노출</a:t>
                      </a:r>
                      <a:endParaRPr lang="en-US" altLang="ko-KR" sz="70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2C) </a:t>
                      </a:r>
                      <a:r>
                        <a:rPr lang="ko-KR" altLang="en-US" sz="700" b="1" baseline="0" dirty="0" err="1">
                          <a:latin typeface="맑은 고딕" panose="020B0503020000020004" pitchFamily="50" charset="-127"/>
                          <a:ea typeface="+mn-ea"/>
                        </a:rPr>
                        <a:t>디스클라이머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 문구 영역</a:t>
                      </a:r>
                      <a:endParaRPr lang="en-US" altLang="ko-KR" sz="70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6213" marR="0" lvl="0" indent="-90488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CMS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에서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인테리어컷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내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디스클라이머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노출여부에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‘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Y’ 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로 설정되어 있고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인테리어컷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이미지가 등록되어 있을 경우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디스클라이머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문구 노출 </a:t>
                      </a:r>
                      <a:endParaRPr lang="en-US" altLang="ko-KR" sz="70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2d) </a:t>
                      </a:r>
                      <a:r>
                        <a:rPr kumimoji="0" lang="ko-KR" altLang="en-US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닷컴 </a:t>
                      </a:r>
                      <a:r>
                        <a:rPr kumimoji="0" lang="en-US" altLang="ko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only </a:t>
                      </a:r>
                      <a:r>
                        <a:rPr kumimoji="0" lang="ko-KR" altLang="en-US" sz="7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뱃지</a:t>
                      </a: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" altLang="ko-KR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   - CMS &gt; 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제품 </a:t>
                      </a:r>
                      <a:r>
                        <a:rPr lang="en-US" altLang="ko-KR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&gt; 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모델 </a:t>
                      </a:r>
                      <a:r>
                        <a:rPr lang="en-US" altLang="ko-KR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&gt; 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모델 관리 </a:t>
                      </a:r>
                      <a:r>
                        <a:rPr lang="en-US" altLang="ko-KR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&gt; 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모델기본정보 </a:t>
                      </a:r>
                      <a:endParaRPr lang="en-US" altLang="ko-KR" sz="700" b="0" i="0" u="none" strike="noStrike" kern="1200" cap="none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" altLang="ko-KR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     -&gt; 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닷컴 전용 여부 </a:t>
                      </a:r>
                      <a:r>
                        <a:rPr lang="en-US" altLang="ko-KR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‘Y’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로 </a:t>
                      </a:r>
                      <a:r>
                        <a:rPr lang="ko-KR" altLang="en-US" sz="700" b="0" i="0" u="none" strike="noStrike" kern="1200" cap="none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설정시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PDP 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제품 이미지 영역에 닷컴 </a:t>
                      </a:r>
                      <a:r>
                        <a:rPr lang="en-US" altLang="ko-KR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only </a:t>
                      </a:r>
                      <a:r>
                        <a:rPr lang="ko-KR" altLang="en-US" sz="700" b="0" i="0" u="none" strike="noStrike" kern="1200" cap="none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뱃지</a:t>
                      </a:r>
                      <a:r>
                        <a:rPr lang="ko-KR" altLang="en-US" sz="700" b="0" i="0" u="none" strike="noStrike" kern="1200" cap="non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 노출</a:t>
                      </a:r>
                      <a:endParaRPr lang="en-US" altLang="ko-KR" sz="700" b="0" i="0" u="none" strike="noStrike" kern="1200" cap="none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2e) Video File 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타입의 </a:t>
                      </a: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360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미디어 </a:t>
                      </a:r>
                      <a:r>
                        <a:rPr lang="ko-KR" altLang="en-US" sz="700" b="1" baseline="0" dirty="0" err="1">
                          <a:latin typeface="맑은 고딕" panose="020B0503020000020004" pitchFamily="50" charset="-127"/>
                          <a:ea typeface="+mn-ea"/>
                        </a:rPr>
                        <a:t>디스클라이머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 문구 영역</a:t>
                      </a:r>
                      <a:endParaRPr lang="en-US" altLang="ko-KR" sz="70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6213" marR="0" lvl="0" indent="-90488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하기 조건 모두 충족 시 문구 제공</a:t>
                      </a:r>
                      <a:b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1) WCMS &gt; [KRP0008] &gt; 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비디오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&gt; Video File &gt; ‘360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미디어용도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’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에 체크</a:t>
                      </a:r>
                      <a:b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2) CMS &gt; CMS &gt; 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제품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모델관리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모델기본 정보 팝업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&gt; 360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미디어 </a:t>
                      </a:r>
                      <a:r>
                        <a:rPr lang="ko-KR" altLang="en-US" sz="700" baseline="0" dirty="0" err="1">
                          <a:latin typeface="맑은 고딕" panose="020B0503020000020004" pitchFamily="50" charset="-127"/>
                          <a:ea typeface="+mn-ea"/>
                        </a:rPr>
                        <a:t>디스클라이머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 노출에 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Y </a:t>
                      </a:r>
                      <a:r>
                        <a:rPr lang="ko-KR" altLang="en-US" sz="700" baseline="0" dirty="0"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endParaRPr lang="en-US" altLang="ko-KR" sz="700" b="0" i="0" u="none" strike="noStrike" kern="1200" cap="none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33239" marR="33239" marT="33178" marB="33178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1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0202" marR="30202" marT="39183" marB="391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0" indent="-93663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1" dirty="0">
                          <a:latin typeface="맑은 고딕" panose="020B0503020000020004" pitchFamily="50" charset="-127"/>
                          <a:ea typeface="+mn-ea"/>
                        </a:rPr>
                        <a:t>[</a:t>
                      </a:r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+mn-ea"/>
                        </a:rPr>
                        <a:t>제품명</a:t>
                      </a:r>
                      <a:r>
                        <a:rPr lang="en-US" altLang="ko-KR" sz="700" b="1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="1" baseline="0" dirty="0">
                          <a:latin typeface="맑은 고딕" panose="020B0503020000020004" pitchFamily="50" charset="-127"/>
                          <a:ea typeface="+mn-ea"/>
                        </a:rPr>
                        <a:t>영역</a:t>
                      </a:r>
                      <a:r>
                        <a:rPr lang="en-US" altLang="ko-KR" sz="700" b="1" dirty="0">
                          <a:latin typeface="맑은 고딕" panose="020B0503020000020004" pitchFamily="50" charset="-127"/>
                          <a:ea typeface="+mn-ea"/>
                        </a:rPr>
                        <a:t>]</a:t>
                      </a:r>
                      <a:r>
                        <a:rPr lang="en-US" altLang="ko-KR" sz="70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93663" marR="0" lvl="0" indent="-93663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Badge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- </a:t>
                      </a:r>
                      <a:r>
                        <a:rPr kumimoji="1" lang="ko-KR" altLang="en-US" sz="700" b="0" i="0" u="none" strike="sng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다품목할인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 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&gt;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내일배송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(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판매예정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)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 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&gt; UP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가전 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Badge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순으로 노출</a:t>
                      </a:r>
                      <a:b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-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최대 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1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줄 노출하며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강조텍스트 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Badge</a:t>
                      </a:r>
                      <a:r>
                        <a:rPr kumimoji="1" lang="ko-KR" altLang="en-US" sz="700" b="0" i="0" u="none" strike="sng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갯수로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 인해 줄 바꿈이 필요한 경우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해당 강조텍스트 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Badge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미 노출</a:t>
                      </a:r>
                      <a:b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</a:b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(e.g. </a:t>
                      </a:r>
                      <a:r>
                        <a:rPr kumimoji="1" lang="ko-KR" altLang="en-US" sz="700" b="0" i="0" u="none" strike="sng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다품목할인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내일배송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UP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가전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신제품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베스트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특별세일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쿠폰할인 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Badge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설정되어 있는 상품 → 스크린 크기로 인해 특별세일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쿠폰할인 줄 바꿈 필요한 경우 특별세일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, </a:t>
                      </a:r>
                      <a:r>
                        <a:rPr kumimoji="1" lang="ko-KR" altLang="en-US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쿠폰할인 미 노출</a:t>
                      </a:r>
                      <a:r>
                        <a:rPr kumimoji="1" lang="en-US" altLang="ko-KR" sz="7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pple SD 산돌고딕 Neo 일반체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노출순서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변경됨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으뜸효율환급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&gt;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베스트 랭킹 순위 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&gt;YYYY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년 출시 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&gt; 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다품목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할인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&gt; </a:t>
                      </a: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UP</a:t>
                      </a:r>
                      <a:r>
                        <a:rPr lang="ko-KR" altLang="en-US" sz="700" b="0" strike="sngStrike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가전 </a:t>
                      </a: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&gt;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강조텍스트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뱃지관리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등록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Apple SD 산돌고딕 Neo 일반체"/>
                        </a:rPr>
                        <a:t>기존과 동일하게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Apple SD 산돌고딕 Neo 일반체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Apple SD 산돌고딕 Neo 일반체"/>
                        </a:rPr>
                        <a:t>줄 바꿈 적용함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  <a:sym typeface="Apple SD 산돌고딕 Neo 일반체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디자인 변경됨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: PLP 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뱃지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스타일과 동일하게 빨간색 텍스트로 변경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참고사항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★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기존의 판매예정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내일배송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쿠폰할인 </a:t>
                      </a:r>
                      <a:r>
                        <a:rPr lang="ko-KR" altLang="en-US" sz="700" b="1" kern="1200" dirty="0" err="1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뱃지가</a:t>
                      </a:r>
                      <a:r>
                        <a:rPr lang="ko-KR" altLang="en-US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삭제됨</a:t>
                      </a:r>
                      <a:endParaRPr lang="en-US" altLang="ko-KR" sz="700" b="1" kern="1200" dirty="0">
                        <a:solidFill>
                          <a:srgbClr val="0070C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★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 YYYY</a:t>
                      </a:r>
                      <a:r>
                        <a:rPr lang="ko-KR" altLang="en-US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년 출시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en-US" altLang="ko-KR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1" kern="1200" baseline="0" dirty="0" err="1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다품목</a:t>
                      </a:r>
                      <a:r>
                        <a:rPr lang="ko-KR" altLang="en-US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할인</a:t>
                      </a:r>
                      <a:r>
                        <a:rPr lang="en-US" altLang="ko-KR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, UP</a:t>
                      </a:r>
                      <a:r>
                        <a:rPr lang="ko-KR" altLang="en-US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가전 </a:t>
                      </a:r>
                      <a:r>
                        <a:rPr lang="ko-KR" altLang="en-US" sz="700" b="1" kern="1200" baseline="0" dirty="0" err="1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뱃지는</a:t>
                      </a:r>
                      <a:r>
                        <a:rPr lang="ko-KR" altLang="en-US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PLP </a:t>
                      </a:r>
                      <a:r>
                        <a:rPr lang="ko-KR" altLang="en-US" sz="700" b="1" kern="1200" dirty="0" err="1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뱃지</a:t>
                      </a:r>
                      <a:r>
                        <a:rPr lang="ko-KR" altLang="en-US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스타일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(black)</a:t>
                      </a:r>
                      <a:r>
                        <a:rPr lang="ko-KR" altLang="en-US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PDP</a:t>
                      </a:r>
                      <a:r>
                        <a:rPr lang="en-US" altLang="ko-KR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1" kern="1200" baseline="0" dirty="0" err="1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뱃지</a:t>
                      </a:r>
                      <a:r>
                        <a:rPr lang="ko-KR" altLang="en-US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스타일</a:t>
                      </a:r>
                      <a:r>
                        <a:rPr lang="en-US" altLang="ko-KR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(red)</a:t>
                      </a:r>
                      <a:r>
                        <a:rPr lang="ko-KR" altLang="en-US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이 다름</a:t>
                      </a:r>
                      <a:endParaRPr lang="en-US" altLang="ko-KR" sz="700" b="1" kern="1200" baseline="0" dirty="0">
                        <a:solidFill>
                          <a:srgbClr val="0070C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★</a:t>
                      </a:r>
                      <a:r>
                        <a:rPr lang="en-US" altLang="ko-KR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1" kern="1200" dirty="0" err="1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강조텍스트</a:t>
                      </a:r>
                      <a:r>
                        <a:rPr lang="ko-KR" altLang="en-US" sz="700" b="1" kern="120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1" kern="1200" dirty="0" err="1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뱃지는</a:t>
                      </a:r>
                      <a:r>
                        <a:rPr lang="ko-KR" altLang="en-US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PLP</a:t>
                      </a:r>
                      <a:r>
                        <a:rPr lang="ko-KR" altLang="en-US" sz="700" b="1" kern="1200" baseline="0" dirty="0">
                          <a:solidFill>
                            <a:srgbClr val="0070C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에서 비노출됨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Apple SD 산돌고딕 Neo 일반체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고효율가전</a:t>
                      </a:r>
                      <a:endParaRPr lang="en-US" altLang="ko-KR" sz="700" b="1" kern="1200" baseline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신규 추가됨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CMS 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제품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모델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모델관리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모델기본정보</a:t>
                      </a:r>
                      <a:b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--&gt;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으뜸효율환급 여부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‘Y’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로 설정 시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뱃지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제공</a:t>
                      </a:r>
                      <a:endParaRPr lang="en-US" altLang="ko-KR" sz="700" b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strike="noStrike" baseline="0" dirty="0" err="1">
                          <a:latin typeface="맑은 고딕" panose="020B0503020000020004" pitchFamily="50" charset="-127"/>
                          <a:ea typeface="+mn-ea"/>
                        </a:rPr>
                        <a:t>뱃지</a:t>
                      </a:r>
                      <a:r>
                        <a:rPr lang="ko-KR" altLang="en-US" sz="700" b="0" strike="noStrike" baseline="0" dirty="0">
                          <a:latin typeface="맑은 고딕" panose="020B0503020000020004" pitchFamily="50" charset="-127"/>
                          <a:ea typeface="+mn-ea"/>
                        </a:rPr>
                        <a:t> 우선순위 중 최상위</a:t>
                      </a:r>
                      <a:endParaRPr lang="en-US" altLang="ko-KR" sz="700" b="0" strike="noStrike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판매중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일시품절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상태인 경우에만 </a:t>
                      </a: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노출</a:t>
                      </a:r>
                      <a:endParaRPr lang="en-US" altLang="ko-KR" sz="700" b="1" kern="1200" baseline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700" b="1" kern="1200" baseline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베스트 랭킹 순위</a:t>
                      </a:r>
                      <a:endParaRPr lang="en-US" altLang="ko-KR" sz="700" b="1" kern="1200" baseline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신규 추가됨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”FRONT 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홈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제품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소모품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베스트 랭킹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오늘의 랭킹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＂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내 카테고리별 베스트 랭킹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1~3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위 가전인 경우에만 노출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가격대 및 용량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사이즈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면적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타입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디스플레이등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전체 옵션에서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1~3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위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strike="noStrike" baseline="0" dirty="0" err="1">
                          <a:latin typeface="맑은 고딕" panose="020B0503020000020004" pitchFamily="50" charset="-127"/>
                          <a:ea typeface="+mn-ea"/>
                        </a:rPr>
                        <a:t>뱃지</a:t>
                      </a:r>
                      <a:r>
                        <a:rPr lang="ko-KR" altLang="en-US" sz="700" b="0" strike="noStrike" baseline="0" dirty="0">
                          <a:latin typeface="맑은 고딕" panose="020B0503020000020004" pitchFamily="50" charset="-127"/>
                          <a:ea typeface="+mn-ea"/>
                        </a:rPr>
                        <a:t> 우선순위 중 최상위</a:t>
                      </a:r>
                      <a:endParaRPr lang="en-US" altLang="ko-KR" sz="700" b="0" strike="noStrike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판매중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일시품절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상태인 경우에만 노출</a:t>
                      </a:r>
                      <a:endParaRPr lang="en-US" altLang="ko-KR" sz="700" b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선택시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이동링크 없음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노출문구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: $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카테고리명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$ n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endParaRPr lang="en-US" altLang="ko-KR" sz="700" b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카테고리명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: “admin&gt;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공통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전시구좌관리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텍스트형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오늘의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랭킹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카테고리형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＂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내 카테고리명 노출</a:t>
                      </a:r>
                      <a:endParaRPr lang="en-US" altLang="ko-KR" sz="700" b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n: 1~3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노출</a:t>
                      </a:r>
                      <a:endParaRPr lang="en-US" altLang="ko-KR" sz="700" b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예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김치냉장고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워시타워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위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의류건조기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위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광파오븐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,/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전자레인지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위</a:t>
                      </a:r>
                      <a:endParaRPr lang="en-US" altLang="ko-KR" sz="700" b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[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] “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베스트 랭킹 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오늘의 랭킹</a:t>
                      </a:r>
                      <a:r>
                        <a:rPr lang="en-US" altLang="ko-KR" sz="700" b="0" baseline="0" dirty="0">
                          <a:latin typeface="맑은 고딕" panose="020B0503020000020004" pitchFamily="50" charset="-127"/>
                          <a:ea typeface="+mn-ea"/>
                        </a:rPr>
                        <a:t>”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은 </a:t>
                      </a:r>
                      <a:r>
                        <a:rPr lang="ko-KR" altLang="en-US" sz="700" b="0" baseline="0" dirty="0" err="1">
                          <a:latin typeface="맑은 고딕" panose="020B0503020000020004" pitchFamily="50" charset="-127"/>
                          <a:ea typeface="+mn-ea"/>
                        </a:rPr>
                        <a:t>렌탈은</a:t>
                      </a:r>
                      <a:r>
                        <a:rPr lang="ko-KR" altLang="en-US" sz="700" b="0" baseline="0" dirty="0">
                          <a:latin typeface="맑은 고딕" panose="020B0503020000020004" pitchFamily="50" charset="-127"/>
                          <a:ea typeface="+mn-ea"/>
                        </a:rPr>
                        <a:t> 제외하고 일반제품에만 적용됨</a:t>
                      </a:r>
                      <a:endParaRPr lang="en-US" altLang="ko-KR" sz="700" b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YYYY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년 출시</a:t>
                      </a:r>
                      <a:endParaRPr lang="en-US" altLang="ko-KR" sz="700" b="1" kern="120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신규 추가됨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PLP 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내 노출기준과 동일함 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판매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일시품절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미판매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일때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노출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└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당해년도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출시제품에 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출시년도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노출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└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MODEL_RELEASE_DATE 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를 기준으로 현재 년도 확인하여 </a:t>
                      </a:r>
                      <a:r>
                        <a:rPr lang="ko-KR" altLang="en-US" sz="700" b="0" kern="120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뱃지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노출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3239" marR="33239" marT="33178" marB="33178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79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뒷페이지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계속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202" marR="30202" marT="39183" marB="391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640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239" marR="33239" marT="33178" marB="33178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6" name="Display"/>
          <p:cNvSpPr/>
          <p:nvPr/>
        </p:nvSpPr>
        <p:spPr>
          <a:xfrm>
            <a:off x="0" y="102522"/>
            <a:ext cx="731336" cy="44467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LG스마트체 SemiBold" panose="020B0600000101010101" pitchFamily="50" charset="-127"/>
                <a:ea typeface="LG스마트체 SemiBold" panose="020B0600000101010101" pitchFamily="50" charset="-127"/>
                <a:cs typeface="Segoe UI" panose="020B0502040204020203" pitchFamily="34" charset="0"/>
              </a:rPr>
              <a:t>일반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LG스마트체 SemiBold" panose="020B0600000101010101" pitchFamily="50" charset="-127"/>
                <a:ea typeface="LG스마트체 SemiBold" panose="020B0600000101010101" pitchFamily="50" charset="-127"/>
                <a:cs typeface="Segoe UI" panose="020B0502040204020203" pitchFamily="34" charset="0"/>
              </a:rPr>
              <a:t>PDP</a:t>
            </a:r>
            <a:endParaRPr lang="en-US" sz="900" dirty="0">
              <a:ln>
                <a:solidFill>
                  <a:schemeClr val="bg1">
                    <a:alpha val="0"/>
                  </a:schemeClr>
                </a:solidFill>
              </a:ln>
              <a:latin typeface="LG스마트체 SemiBold" panose="020B0600000101010101" pitchFamily="50" charset="-127"/>
              <a:ea typeface="LG스마트체 SemiBold" panose="020B0600000101010101" pitchFamily="50" charset="-127"/>
              <a:cs typeface="Segoe UI" panose="020B0502040204020203" pitchFamily="34" charset="0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1632127" y="2579895"/>
            <a:ext cx="787369" cy="501230"/>
            <a:chOff x="1866206" y="2790650"/>
            <a:chExt cx="787369" cy="501230"/>
          </a:xfrm>
        </p:grpSpPr>
        <p:cxnSp>
          <p:nvCxnSpPr>
            <p:cNvPr id="19" name="직선 화살표 연결선 18"/>
            <p:cNvCxnSpPr/>
            <p:nvPr/>
          </p:nvCxnSpPr>
          <p:spPr>
            <a:xfrm>
              <a:off x="1866206" y="2872260"/>
              <a:ext cx="787369" cy="0"/>
            </a:xfrm>
            <a:prstGeom prst="straightConnector1">
              <a:avLst/>
            </a:prstGeom>
            <a:ln w="53975">
              <a:solidFill>
                <a:srgbClr val="00A6DD">
                  <a:alpha val="74000"/>
                </a:srgb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0" name="Picture 6" descr="Tap Icon Png Image Free Download Searchpng, Transparent Png - kind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1002" y="2790650"/>
              <a:ext cx="401357" cy="501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" name="Google Shape;741;p20">
              <a:extLst>
                <a:ext uri="{FF2B5EF4-FFF2-40B4-BE49-F238E27FC236}">
                  <a16:creationId xmlns:a16="http://schemas.microsoft.com/office/drawing/2014/main" id="{7CF00141-27D4-4D58-9C07-D92FB390D24F}"/>
                </a:ext>
              </a:extLst>
            </p:cNvPr>
            <p:cNvSpPr txBox="1"/>
            <p:nvPr/>
          </p:nvSpPr>
          <p:spPr>
            <a:xfrm>
              <a:off x="2107414" y="3065968"/>
              <a:ext cx="433072" cy="211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algn="ctr">
                <a:buClr>
                  <a:schemeClr val="dk1"/>
                </a:buClr>
                <a:buSzPts val="800"/>
              </a:pPr>
              <a:r>
                <a:rPr lang="en-US" sz="700" b="1" dirty="0">
                  <a:solidFill>
                    <a:srgbClr val="00A6DD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swipe</a:t>
              </a:r>
              <a:endParaRPr sz="700" b="1" dirty="0">
                <a:solidFill>
                  <a:srgbClr val="00A6DD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" name="타원 3"/>
          <p:cNvSpPr/>
          <p:nvPr/>
        </p:nvSpPr>
        <p:spPr>
          <a:xfrm>
            <a:off x="2929131" y="3138311"/>
            <a:ext cx="384761" cy="384761"/>
          </a:xfrm>
          <a:prstGeom prst="ellipse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trike="sngStrike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AR</a:t>
            </a:r>
          </a:p>
          <a:p>
            <a:pPr algn="ctr"/>
            <a:r>
              <a:rPr lang="ko-KR" altLang="en-US" sz="700" strike="sngStrike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체험</a:t>
            </a:r>
          </a:p>
        </p:txBody>
      </p:sp>
      <p:sp>
        <p:nvSpPr>
          <p:cNvPr id="105" name="타원 104"/>
          <p:cNvSpPr/>
          <p:nvPr/>
        </p:nvSpPr>
        <p:spPr>
          <a:xfrm>
            <a:off x="2929131" y="3562192"/>
            <a:ext cx="384761" cy="384761"/>
          </a:xfrm>
          <a:prstGeom prst="ellipse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trike="sngStrike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오브제</a:t>
            </a:r>
            <a:r>
              <a:rPr lang="en-US" altLang="ko-KR" sz="700" strike="sngStrike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ko-KR" altLang="en-US" sz="700" strike="sngStrike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체험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899671" y="3138311"/>
            <a:ext cx="447180" cy="86412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2792518" y="3089018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8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421158" y="4741276"/>
            <a:ext cx="979288" cy="21053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1406588" y="4614179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6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12" name="그룹 111"/>
          <p:cNvGrpSpPr/>
          <p:nvPr/>
        </p:nvGrpSpPr>
        <p:grpSpPr>
          <a:xfrm>
            <a:off x="2726754" y="4764988"/>
            <a:ext cx="596258" cy="152336"/>
            <a:chOff x="565265" y="5017015"/>
            <a:chExt cx="596258" cy="152336"/>
          </a:xfrm>
        </p:grpSpPr>
        <p:grpSp>
          <p:nvGrpSpPr>
            <p:cNvPr id="113" name="그룹 112"/>
            <p:cNvGrpSpPr/>
            <p:nvPr/>
          </p:nvGrpSpPr>
          <p:grpSpPr>
            <a:xfrm>
              <a:off x="565265" y="5017015"/>
              <a:ext cx="152336" cy="152336"/>
              <a:chOff x="7773297" y="2773681"/>
              <a:chExt cx="253104" cy="253104"/>
            </a:xfrm>
          </p:grpSpPr>
          <p:sp>
            <p:nvSpPr>
              <p:cNvPr id="115" name="타원 114"/>
              <p:cNvSpPr/>
              <p:nvPr/>
            </p:nvSpPr>
            <p:spPr>
              <a:xfrm>
                <a:off x="7773297" y="2773681"/>
                <a:ext cx="253104" cy="253104"/>
              </a:xfrm>
              <a:prstGeom prst="ellipse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Accept"/>
              <p:cNvSpPr>
                <a:spLocks noChangeAspect="1"/>
              </p:cNvSpPr>
              <p:nvPr/>
            </p:nvSpPr>
            <p:spPr bwMode="auto">
              <a:xfrm>
                <a:off x="7841862" y="2839280"/>
                <a:ext cx="127000" cy="112712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AD5CBD0-2860-C64A-BE77-A35125F43DFA}"/>
                </a:ext>
              </a:extLst>
            </p:cNvPr>
            <p:cNvSpPr txBox="1"/>
            <p:nvPr/>
          </p:nvSpPr>
          <p:spPr>
            <a:xfrm>
              <a:off x="776802" y="5031972"/>
              <a:ext cx="384721" cy="13080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50" dirty="0">
                  <a:solidFill>
                    <a:schemeClr val="tx1"/>
                  </a:solidFill>
                  <a:latin typeface="LG스마트체 Light" panose="020B0600000101010101" pitchFamily="50" charset="-127"/>
                  <a:ea typeface="LG스마트체 Light" panose="020B0600000101010101" pitchFamily="50" charset="-127"/>
                </a:rPr>
                <a:t>비교하기</a:t>
              </a:r>
              <a:endParaRPr lang="en-US" altLang="ko-KR" sz="85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endParaRPr>
            </a:p>
          </p:txBody>
        </p:sp>
      </p:grpSp>
      <p:sp>
        <p:nvSpPr>
          <p:cNvPr id="117" name="직사각형 116"/>
          <p:cNvSpPr/>
          <p:nvPr/>
        </p:nvSpPr>
        <p:spPr>
          <a:xfrm>
            <a:off x="2653660" y="4713948"/>
            <a:ext cx="704708" cy="251743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2510766" y="4744596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7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3923679" y="635870"/>
            <a:ext cx="13163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동영상 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: </a:t>
            </a:r>
            <a:r>
              <a:rPr lang="en-US" altLang="ko-KR" sz="9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Youtube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case</a:t>
            </a:r>
            <a:endParaRPr lang="ko-KR" altLang="en-US" sz="9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5023" y="4173537"/>
            <a:ext cx="2276239" cy="2529666"/>
          </a:xfrm>
          <a:prstGeom prst="rect">
            <a:avLst/>
          </a:prstGeom>
        </p:spPr>
      </p:pic>
      <p:sp>
        <p:nvSpPr>
          <p:cNvPr id="304" name="TextBox 303"/>
          <p:cNvSpPr txBox="1"/>
          <p:nvPr/>
        </p:nvSpPr>
        <p:spPr>
          <a:xfrm>
            <a:off x="6414500" y="4304004"/>
            <a:ext cx="1093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A6D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영상 가로 사이즈 맞춰</a:t>
            </a:r>
            <a:b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A6D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A6D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세로 중간맞춤</a:t>
            </a:r>
          </a:p>
        </p:txBody>
      </p: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683F1C26-D463-3741-B9CA-E9B26718D805}"/>
              </a:ext>
            </a:extLst>
          </p:cNvPr>
          <p:cNvGrpSpPr/>
          <p:nvPr/>
        </p:nvGrpSpPr>
        <p:grpSpPr>
          <a:xfrm>
            <a:off x="6467861" y="4627704"/>
            <a:ext cx="1851247" cy="2060686"/>
            <a:chOff x="4138824" y="4625959"/>
            <a:chExt cx="1851247" cy="2060686"/>
          </a:xfrm>
        </p:grpSpPr>
        <p:sp>
          <p:nvSpPr>
            <p:cNvPr id="306" name="직사각형 305">
              <a:extLst>
                <a:ext uri="{FF2B5EF4-FFF2-40B4-BE49-F238E27FC236}">
                  <a16:creationId xmlns:a16="http://schemas.microsoft.com/office/drawing/2014/main" id="{FA8AF017-A2EF-DE4E-AD6C-09BD4773FDEC}"/>
                </a:ext>
              </a:extLst>
            </p:cNvPr>
            <p:cNvSpPr/>
            <p:nvPr/>
          </p:nvSpPr>
          <p:spPr>
            <a:xfrm>
              <a:off x="4141545" y="5046110"/>
              <a:ext cx="1848526" cy="122038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Video</a:t>
              </a:r>
            </a:p>
            <a:p>
              <a:pPr algn="ctr"/>
              <a:r>
                <a:rPr lang="ko-KR" altLang="en-US" sz="1050" dirty="0">
                  <a:solidFill>
                    <a:schemeClr val="tx1"/>
                  </a:solidFill>
                </a:rPr>
                <a:t>자동재생</a:t>
              </a:r>
              <a:endParaRPr lang="en-US" altLang="ko-KR" sz="105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(audio : mute)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1BB36B28-257B-034E-B061-267AA11CDD0A}"/>
                </a:ext>
              </a:extLst>
            </p:cNvPr>
            <p:cNvSpPr/>
            <p:nvPr/>
          </p:nvSpPr>
          <p:spPr>
            <a:xfrm>
              <a:off x="4138824" y="4625959"/>
              <a:ext cx="1848526" cy="2060686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pic>
          <p:nvPicPr>
            <p:cNvPr id="308" name="Picture 3" descr="C:\Users\RB-N-088\Desktop\icon\1489644272_icon-ios7-arrow-back.png">
              <a:extLst>
                <a:ext uri="{FF2B5EF4-FFF2-40B4-BE49-F238E27FC236}">
                  <a16:creationId xmlns:a16="http://schemas.microsoft.com/office/drawing/2014/main" id="{E32C51B4-52F8-3E41-AC35-DF89FB3F11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3088" y="4708289"/>
              <a:ext cx="143752" cy="143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9" name="그림 308">
              <a:extLst>
                <a:ext uri="{FF2B5EF4-FFF2-40B4-BE49-F238E27FC236}">
                  <a16:creationId xmlns:a16="http://schemas.microsoft.com/office/drawing/2014/main" id="{BB47AEE3-D96F-4A48-B0CF-A587D2C3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776682" y="4703912"/>
              <a:ext cx="135752" cy="135752"/>
            </a:xfrm>
            <a:prstGeom prst="rect">
              <a:avLst/>
            </a:prstGeom>
          </p:spPr>
        </p:pic>
        <p:sp>
          <p:nvSpPr>
            <p:cNvPr id="310" name="Search">
              <a:extLst>
                <a:ext uri="{FF2B5EF4-FFF2-40B4-BE49-F238E27FC236}">
                  <a16:creationId xmlns:a16="http://schemas.microsoft.com/office/drawing/2014/main" id="{65778A0B-4EAE-E142-A13C-E2FB28744BF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397882" y="4722371"/>
              <a:ext cx="102571" cy="104902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404040"/>
            </a:solidFill>
            <a:ln>
              <a:solidFill>
                <a:srgbClr val="40404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5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311" name="그림 310">
              <a:extLst>
                <a:ext uri="{FF2B5EF4-FFF2-40B4-BE49-F238E27FC236}">
                  <a16:creationId xmlns:a16="http://schemas.microsoft.com/office/drawing/2014/main" id="{FF31DD88-EA76-BE42-8280-EE6EAA556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4349" y="4708289"/>
              <a:ext cx="116645" cy="116645"/>
            </a:xfrm>
            <a:prstGeom prst="rect">
              <a:avLst/>
            </a:prstGeom>
          </p:spPr>
        </p:pic>
      </p:grpSp>
      <p:pic>
        <p:nvPicPr>
          <p:cNvPr id="315" name="그림 3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0031" y="6063132"/>
            <a:ext cx="252361" cy="5567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915238" y="814163"/>
            <a:ext cx="16433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썸네일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이미지 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재생아이콘 노출</a:t>
            </a:r>
          </a:p>
        </p:txBody>
      </p:sp>
      <p:pic>
        <p:nvPicPr>
          <p:cNvPr id="193" name="그림 19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9967" y="1028100"/>
            <a:ext cx="2276239" cy="2526579"/>
          </a:xfrm>
          <a:prstGeom prst="rect">
            <a:avLst/>
          </a:prstGeom>
        </p:spPr>
      </p:pic>
      <p:sp>
        <p:nvSpPr>
          <p:cNvPr id="109" name="타원 108"/>
          <p:cNvSpPr/>
          <p:nvPr/>
        </p:nvSpPr>
        <p:spPr>
          <a:xfrm>
            <a:off x="2929131" y="2698836"/>
            <a:ext cx="384761" cy="384761"/>
          </a:xfrm>
          <a:prstGeom prst="ellipse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360°</a:t>
            </a: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2792518" y="2697250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9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456175" y="3094577"/>
            <a:ext cx="1042585" cy="36075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/>
          <p:cNvSpPr/>
          <p:nvPr/>
        </p:nvSpPr>
        <p:spPr>
          <a:xfrm>
            <a:off x="4803036" y="6418295"/>
            <a:ext cx="925689" cy="191485"/>
          </a:xfrm>
          <a:prstGeom prst="rect">
            <a:avLst/>
          </a:prstGeom>
          <a:solidFill>
            <a:srgbClr val="CCDF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Google Shape;1032;p23">
            <a:extLst>
              <a:ext uri="{FF2B5EF4-FFF2-40B4-BE49-F238E27FC236}">
                <a16:creationId xmlns:a16="http://schemas.microsoft.com/office/drawing/2014/main" id="{4B783733-6F50-4748-842F-AB747A81BD2E}"/>
              </a:ext>
            </a:extLst>
          </p:cNvPr>
          <p:cNvSpPr/>
          <p:nvPr/>
        </p:nvSpPr>
        <p:spPr>
          <a:xfrm rot="10800000" flipH="1" flipV="1">
            <a:off x="1671313" y="3790751"/>
            <a:ext cx="540000" cy="166154"/>
          </a:xfrm>
          <a:prstGeom prst="roundRect">
            <a:avLst>
              <a:gd name="adj" fmla="val 50000"/>
            </a:avLst>
          </a:prstGeom>
          <a:solidFill>
            <a:srgbClr val="7F7F7F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8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&lt; </a:t>
            </a:r>
            <a:r>
              <a:rPr lang="en-US" altLang="ko-KR" sz="800" b="1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1</a:t>
            </a:r>
            <a:r>
              <a:rPr lang="en-US" altLang="ko-KR" sz="8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en-US" altLang="ko-KR" sz="800" kern="1200" dirty="0">
                <a:solidFill>
                  <a:schemeClr val="bg1">
                    <a:lumMod val="85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/ 5 </a:t>
            </a:r>
            <a:r>
              <a:rPr lang="en-US" altLang="ko-KR" sz="8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&gt;</a:t>
            </a:r>
            <a:endParaRPr sz="700" b="1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1568317" y="3673990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7" name="Google Shape;1032;p23">
            <a:extLst>
              <a:ext uri="{FF2B5EF4-FFF2-40B4-BE49-F238E27FC236}">
                <a16:creationId xmlns:a16="http://schemas.microsoft.com/office/drawing/2014/main" id="{4B783733-6F50-4748-842F-AB747A81BD2E}"/>
              </a:ext>
            </a:extLst>
          </p:cNvPr>
          <p:cNvSpPr/>
          <p:nvPr/>
        </p:nvSpPr>
        <p:spPr>
          <a:xfrm rot="10800000" flipH="1" flipV="1">
            <a:off x="4852174" y="3341310"/>
            <a:ext cx="478851" cy="147340"/>
          </a:xfrm>
          <a:prstGeom prst="roundRect">
            <a:avLst>
              <a:gd name="adj" fmla="val 50000"/>
            </a:avLst>
          </a:prstGeom>
          <a:solidFill>
            <a:srgbClr val="7F7F7F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6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&lt; </a:t>
            </a:r>
            <a:r>
              <a:rPr lang="en-US" altLang="ko-KR" sz="600" b="1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1</a:t>
            </a:r>
            <a:r>
              <a:rPr lang="en-US" altLang="ko-KR" sz="6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en-US" altLang="ko-KR" sz="600" kern="1200" dirty="0">
                <a:solidFill>
                  <a:schemeClr val="bg1">
                    <a:lumMod val="85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/ 19 </a:t>
            </a:r>
            <a:r>
              <a:rPr lang="en-US" altLang="ko-KR" sz="6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&gt;</a:t>
            </a:r>
            <a:endParaRPr sz="500" b="1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89" name="Google Shape;1032;p23">
            <a:extLst>
              <a:ext uri="{FF2B5EF4-FFF2-40B4-BE49-F238E27FC236}">
                <a16:creationId xmlns:a16="http://schemas.microsoft.com/office/drawing/2014/main" id="{4B783733-6F50-4748-842F-AB747A81BD2E}"/>
              </a:ext>
            </a:extLst>
          </p:cNvPr>
          <p:cNvSpPr/>
          <p:nvPr/>
        </p:nvSpPr>
        <p:spPr>
          <a:xfrm rot="10800000" flipH="1" flipV="1">
            <a:off x="4937230" y="6503027"/>
            <a:ext cx="478851" cy="147340"/>
          </a:xfrm>
          <a:prstGeom prst="roundRect">
            <a:avLst>
              <a:gd name="adj" fmla="val 50000"/>
            </a:avLst>
          </a:prstGeom>
          <a:solidFill>
            <a:srgbClr val="7F7F7F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6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&lt; </a:t>
            </a:r>
            <a:r>
              <a:rPr lang="en-US" altLang="ko-KR" sz="600" b="1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1</a:t>
            </a:r>
            <a:r>
              <a:rPr lang="en-US" altLang="ko-KR" sz="6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en-US" altLang="ko-KR" sz="600" kern="1200" dirty="0">
                <a:solidFill>
                  <a:schemeClr val="bg1">
                    <a:lumMod val="85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/ 19 </a:t>
            </a:r>
            <a:r>
              <a:rPr lang="en-US" altLang="ko-KR" sz="6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&gt;</a:t>
            </a:r>
            <a:endParaRPr sz="500" b="1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178899" y="1825593"/>
            <a:ext cx="1825399" cy="81021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WCMS</a:t>
            </a:r>
            <a:r>
              <a:rPr lang="ko-KR" altLang="en-US" sz="1100" dirty="0">
                <a:solidFill>
                  <a:schemeClr val="tx1"/>
                </a:solidFill>
              </a:rPr>
              <a:t>에 등록한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YouTube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썸네일</a:t>
            </a:r>
            <a:r>
              <a:rPr lang="ko-KR" altLang="en-US" sz="1100" dirty="0">
                <a:solidFill>
                  <a:schemeClr val="tx1"/>
                </a:solidFill>
              </a:rPr>
              <a:t> 이미지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4833941" y="2133401"/>
            <a:ext cx="488291" cy="315976"/>
          </a:xfrm>
          <a:prstGeom prst="roundRect">
            <a:avLst/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▶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923679" y="3712653"/>
            <a:ext cx="13885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동영상 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: Video File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case</a:t>
            </a:r>
            <a:endParaRPr lang="ko-KR" altLang="en-US" sz="9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3913179" y="3881508"/>
            <a:ext cx="923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동영상 자동재생</a:t>
            </a:r>
          </a:p>
        </p:txBody>
      </p:sp>
      <p:sp>
        <p:nvSpPr>
          <p:cNvPr id="140" name="Like"/>
          <p:cNvSpPr>
            <a:spLocks noChangeAspect="1" noEditPoints="1"/>
          </p:cNvSpPr>
          <p:nvPr/>
        </p:nvSpPr>
        <p:spPr bwMode="auto">
          <a:xfrm>
            <a:off x="2879090" y="4380927"/>
            <a:ext cx="162816" cy="143762"/>
          </a:xfrm>
          <a:custGeom>
            <a:avLst/>
            <a:gdLst>
              <a:gd name="T0" fmla="*/ 174 w 614"/>
              <a:gd name="T1" fmla="*/ 0 h 538"/>
              <a:gd name="T2" fmla="*/ 0 w 614"/>
              <a:gd name="T3" fmla="*/ 174 h 538"/>
              <a:gd name="T4" fmla="*/ 299 w 614"/>
              <a:gd name="T5" fmla="*/ 531 h 538"/>
              <a:gd name="T6" fmla="*/ 307 w 614"/>
              <a:gd name="T7" fmla="*/ 538 h 538"/>
              <a:gd name="T8" fmla="*/ 315 w 614"/>
              <a:gd name="T9" fmla="*/ 531 h 538"/>
              <a:gd name="T10" fmla="*/ 614 w 614"/>
              <a:gd name="T11" fmla="*/ 174 h 538"/>
              <a:gd name="T12" fmla="*/ 440 w 614"/>
              <a:gd name="T13" fmla="*/ 0 h 538"/>
              <a:gd name="T14" fmla="*/ 307 w 614"/>
              <a:gd name="T15" fmla="*/ 65 h 538"/>
              <a:gd name="T16" fmla="*/ 174 w 614"/>
              <a:gd name="T17" fmla="*/ 0 h 538"/>
              <a:gd name="T18" fmla="*/ 174 w 614"/>
              <a:gd name="T19" fmla="*/ 27 h 538"/>
              <a:gd name="T20" fmla="*/ 296 w 614"/>
              <a:gd name="T21" fmla="*/ 93 h 538"/>
              <a:gd name="T22" fmla="*/ 307 w 614"/>
              <a:gd name="T23" fmla="*/ 110 h 538"/>
              <a:gd name="T24" fmla="*/ 318 w 614"/>
              <a:gd name="T25" fmla="*/ 93 h 538"/>
              <a:gd name="T26" fmla="*/ 440 w 614"/>
              <a:gd name="T27" fmla="*/ 27 h 538"/>
              <a:gd name="T28" fmla="*/ 587 w 614"/>
              <a:gd name="T29" fmla="*/ 174 h 538"/>
              <a:gd name="T30" fmla="*/ 307 w 614"/>
              <a:gd name="T31" fmla="*/ 504 h 538"/>
              <a:gd name="T32" fmla="*/ 27 w 614"/>
              <a:gd name="T33" fmla="*/ 174 h 538"/>
              <a:gd name="T34" fmla="*/ 174 w 614"/>
              <a:gd name="T35" fmla="*/ 27 h 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14" h="538">
                <a:moveTo>
                  <a:pt x="174" y="0"/>
                </a:moveTo>
                <a:cubicBezTo>
                  <a:pt x="78" y="0"/>
                  <a:pt x="0" y="78"/>
                  <a:pt x="0" y="174"/>
                </a:cubicBezTo>
                <a:cubicBezTo>
                  <a:pt x="0" y="371"/>
                  <a:pt x="223" y="468"/>
                  <a:pt x="299" y="531"/>
                </a:cubicBezTo>
                <a:lnTo>
                  <a:pt x="307" y="538"/>
                </a:lnTo>
                <a:lnTo>
                  <a:pt x="315" y="531"/>
                </a:lnTo>
                <a:cubicBezTo>
                  <a:pt x="391" y="468"/>
                  <a:pt x="614" y="371"/>
                  <a:pt x="614" y="174"/>
                </a:cubicBezTo>
                <a:cubicBezTo>
                  <a:pt x="614" y="78"/>
                  <a:pt x="536" y="0"/>
                  <a:pt x="440" y="0"/>
                </a:cubicBezTo>
                <a:cubicBezTo>
                  <a:pt x="386" y="0"/>
                  <a:pt x="339" y="26"/>
                  <a:pt x="307" y="65"/>
                </a:cubicBezTo>
                <a:cubicBezTo>
                  <a:pt x="275" y="26"/>
                  <a:pt x="228" y="0"/>
                  <a:pt x="174" y="0"/>
                </a:cubicBezTo>
                <a:close/>
                <a:moveTo>
                  <a:pt x="174" y="27"/>
                </a:moveTo>
                <a:cubicBezTo>
                  <a:pt x="225" y="27"/>
                  <a:pt x="269" y="53"/>
                  <a:pt x="296" y="93"/>
                </a:cubicBezTo>
                <a:lnTo>
                  <a:pt x="307" y="110"/>
                </a:lnTo>
                <a:lnTo>
                  <a:pt x="318" y="93"/>
                </a:lnTo>
                <a:cubicBezTo>
                  <a:pt x="344" y="53"/>
                  <a:pt x="389" y="27"/>
                  <a:pt x="440" y="27"/>
                </a:cubicBezTo>
                <a:cubicBezTo>
                  <a:pt x="521" y="27"/>
                  <a:pt x="587" y="93"/>
                  <a:pt x="587" y="174"/>
                </a:cubicBezTo>
                <a:cubicBezTo>
                  <a:pt x="587" y="346"/>
                  <a:pt x="395" y="435"/>
                  <a:pt x="307" y="504"/>
                </a:cubicBezTo>
                <a:cubicBezTo>
                  <a:pt x="219" y="435"/>
                  <a:pt x="27" y="346"/>
                  <a:pt x="27" y="174"/>
                </a:cubicBezTo>
                <a:cubicBezTo>
                  <a:pt x="27" y="93"/>
                  <a:pt x="92" y="27"/>
                  <a:pt x="174" y="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78" name="그룹 177"/>
          <p:cNvGrpSpPr/>
          <p:nvPr/>
        </p:nvGrpSpPr>
        <p:grpSpPr>
          <a:xfrm>
            <a:off x="495308" y="3719468"/>
            <a:ext cx="238345" cy="238345"/>
            <a:chOff x="7510964" y="3534629"/>
            <a:chExt cx="259022" cy="259022"/>
          </a:xfrm>
        </p:grpSpPr>
        <p:sp>
          <p:nvSpPr>
            <p:cNvPr id="179" name="타원 178"/>
            <p:cNvSpPr/>
            <p:nvPr/>
          </p:nvSpPr>
          <p:spPr>
            <a:xfrm>
              <a:off x="7510964" y="3534629"/>
              <a:ext cx="259022" cy="259022"/>
            </a:xfrm>
            <a:prstGeom prst="ellipse">
              <a:avLst/>
            </a:prstGeom>
            <a:solidFill>
              <a:schemeClr val="bg1">
                <a:lumMod val="50000"/>
                <a:alpha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grpSp>
          <p:nvGrpSpPr>
            <p:cNvPr id="190" name="그룹 189"/>
            <p:cNvGrpSpPr/>
            <p:nvPr/>
          </p:nvGrpSpPr>
          <p:grpSpPr>
            <a:xfrm>
              <a:off x="7597275" y="3605282"/>
              <a:ext cx="86399" cy="117715"/>
              <a:chOff x="7381864" y="2724727"/>
              <a:chExt cx="387905" cy="477367"/>
            </a:xfrm>
          </p:grpSpPr>
          <p:sp>
            <p:nvSpPr>
              <p:cNvPr id="194" name="직사각형 193"/>
              <p:cNvSpPr/>
              <p:nvPr/>
            </p:nvSpPr>
            <p:spPr>
              <a:xfrm>
                <a:off x="7381864" y="2724727"/>
                <a:ext cx="129294" cy="4773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/>
              <p:cNvSpPr/>
              <p:nvPr/>
            </p:nvSpPr>
            <p:spPr>
              <a:xfrm>
                <a:off x="7640475" y="2724727"/>
                <a:ext cx="129294" cy="4773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86" name="Google Shape;1032;p23">
            <a:extLst>
              <a:ext uri="{FF2B5EF4-FFF2-40B4-BE49-F238E27FC236}">
                <a16:creationId xmlns:a16="http://schemas.microsoft.com/office/drawing/2014/main" id="{4B783733-6F50-4748-842F-AB747A81BD2E}"/>
              </a:ext>
            </a:extLst>
          </p:cNvPr>
          <p:cNvSpPr/>
          <p:nvPr/>
        </p:nvSpPr>
        <p:spPr>
          <a:xfrm rot="10800000" flipH="1" flipV="1">
            <a:off x="7254528" y="6503995"/>
            <a:ext cx="332541" cy="102321"/>
          </a:xfrm>
          <a:prstGeom prst="roundRect">
            <a:avLst>
              <a:gd name="adj" fmla="val 50000"/>
            </a:avLst>
          </a:prstGeom>
          <a:solidFill>
            <a:srgbClr val="7F7F7F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6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&lt; </a:t>
            </a:r>
            <a:r>
              <a:rPr lang="en-US" altLang="ko-KR" sz="600" b="1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1</a:t>
            </a:r>
            <a:r>
              <a:rPr lang="en-US" altLang="ko-KR" sz="6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en-US" altLang="ko-KR" sz="600" kern="1200" dirty="0">
                <a:solidFill>
                  <a:schemeClr val="bg1">
                    <a:lumMod val="85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/ 5 </a:t>
            </a:r>
            <a:r>
              <a:rPr lang="en-US" altLang="ko-KR" sz="600" kern="1200" dirty="0">
                <a:solidFill>
                  <a:schemeClr val="bg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&gt;</a:t>
            </a:r>
            <a:endParaRPr sz="500" b="1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98" name="타원 197"/>
          <p:cNvSpPr/>
          <p:nvPr/>
        </p:nvSpPr>
        <p:spPr>
          <a:xfrm>
            <a:off x="7383716" y="3886914"/>
            <a:ext cx="241613" cy="241613"/>
          </a:xfrm>
          <a:prstGeom prst="ellipse">
            <a:avLst/>
          </a:prstGeom>
          <a:solidFill>
            <a:schemeClr val="bg1">
              <a:lumMod val="50000"/>
              <a:alpha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▶</a:t>
            </a:r>
          </a:p>
        </p:txBody>
      </p:sp>
      <p:cxnSp>
        <p:nvCxnSpPr>
          <p:cNvPr id="199" name="직선 화살표 연결선 198"/>
          <p:cNvCxnSpPr/>
          <p:nvPr/>
        </p:nvCxnSpPr>
        <p:spPr>
          <a:xfrm>
            <a:off x="7103143" y="4015527"/>
            <a:ext cx="257590" cy="0"/>
          </a:xfrm>
          <a:prstGeom prst="straightConnector1">
            <a:avLst/>
          </a:prstGeom>
          <a:ln>
            <a:solidFill>
              <a:srgbClr val="00A6D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그룹 199"/>
          <p:cNvGrpSpPr/>
          <p:nvPr/>
        </p:nvGrpSpPr>
        <p:grpSpPr>
          <a:xfrm>
            <a:off x="6848205" y="3875276"/>
            <a:ext cx="238345" cy="238345"/>
            <a:chOff x="7510964" y="3534629"/>
            <a:chExt cx="259022" cy="259022"/>
          </a:xfrm>
        </p:grpSpPr>
        <p:sp>
          <p:nvSpPr>
            <p:cNvPr id="201" name="타원 200"/>
            <p:cNvSpPr/>
            <p:nvPr/>
          </p:nvSpPr>
          <p:spPr>
            <a:xfrm>
              <a:off x="7510964" y="3534629"/>
              <a:ext cx="259022" cy="259022"/>
            </a:xfrm>
            <a:prstGeom prst="ellipse">
              <a:avLst/>
            </a:prstGeom>
            <a:solidFill>
              <a:schemeClr val="bg1">
                <a:lumMod val="50000"/>
                <a:alpha val="60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grpSp>
          <p:nvGrpSpPr>
            <p:cNvPr id="202" name="그룹 201"/>
            <p:cNvGrpSpPr/>
            <p:nvPr/>
          </p:nvGrpSpPr>
          <p:grpSpPr>
            <a:xfrm>
              <a:off x="7597275" y="3605282"/>
              <a:ext cx="86399" cy="117715"/>
              <a:chOff x="7381864" y="2724727"/>
              <a:chExt cx="387905" cy="477367"/>
            </a:xfrm>
          </p:grpSpPr>
          <p:sp>
            <p:nvSpPr>
              <p:cNvPr id="203" name="직사각형 202"/>
              <p:cNvSpPr/>
              <p:nvPr/>
            </p:nvSpPr>
            <p:spPr>
              <a:xfrm>
                <a:off x="7381864" y="2724727"/>
                <a:ext cx="129294" cy="4773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/>
              <p:cNvSpPr/>
              <p:nvPr/>
            </p:nvSpPr>
            <p:spPr>
              <a:xfrm>
                <a:off x="7640475" y="2724727"/>
                <a:ext cx="129294" cy="4773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05" name="타원 204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360619" y="3673990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6615935" y="3902095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8" name="그룹 207"/>
          <p:cNvGrpSpPr/>
          <p:nvPr/>
        </p:nvGrpSpPr>
        <p:grpSpPr>
          <a:xfrm>
            <a:off x="4105023" y="6406580"/>
            <a:ext cx="223644" cy="223644"/>
            <a:chOff x="7510964" y="3534629"/>
            <a:chExt cx="259022" cy="259022"/>
          </a:xfrm>
        </p:grpSpPr>
        <p:sp>
          <p:nvSpPr>
            <p:cNvPr id="209" name="타원 208"/>
            <p:cNvSpPr/>
            <p:nvPr/>
          </p:nvSpPr>
          <p:spPr>
            <a:xfrm>
              <a:off x="7510964" y="3534629"/>
              <a:ext cx="259022" cy="259022"/>
            </a:xfrm>
            <a:prstGeom prst="ellipse">
              <a:avLst/>
            </a:prstGeom>
            <a:solidFill>
              <a:schemeClr val="bg1">
                <a:lumMod val="50000"/>
                <a:alpha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grpSp>
          <p:nvGrpSpPr>
            <p:cNvPr id="210" name="그룹 209"/>
            <p:cNvGrpSpPr/>
            <p:nvPr/>
          </p:nvGrpSpPr>
          <p:grpSpPr>
            <a:xfrm>
              <a:off x="7597275" y="3605282"/>
              <a:ext cx="86399" cy="117715"/>
              <a:chOff x="7381864" y="2724727"/>
              <a:chExt cx="387905" cy="477367"/>
            </a:xfrm>
          </p:grpSpPr>
          <p:sp>
            <p:nvSpPr>
              <p:cNvPr id="211" name="직사각형 210"/>
              <p:cNvSpPr/>
              <p:nvPr/>
            </p:nvSpPr>
            <p:spPr>
              <a:xfrm>
                <a:off x="7381864" y="2724727"/>
                <a:ext cx="129294" cy="4773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" name="직사각형 211"/>
              <p:cNvSpPr/>
              <p:nvPr/>
            </p:nvSpPr>
            <p:spPr>
              <a:xfrm>
                <a:off x="7640475" y="2724727"/>
                <a:ext cx="129294" cy="4773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18" name="그룹 217"/>
          <p:cNvGrpSpPr/>
          <p:nvPr/>
        </p:nvGrpSpPr>
        <p:grpSpPr>
          <a:xfrm>
            <a:off x="6533898" y="6481104"/>
            <a:ext cx="149120" cy="149120"/>
            <a:chOff x="7510964" y="3534629"/>
            <a:chExt cx="259022" cy="259022"/>
          </a:xfrm>
        </p:grpSpPr>
        <p:sp>
          <p:nvSpPr>
            <p:cNvPr id="219" name="타원 218"/>
            <p:cNvSpPr/>
            <p:nvPr/>
          </p:nvSpPr>
          <p:spPr>
            <a:xfrm>
              <a:off x="7510964" y="3534629"/>
              <a:ext cx="259022" cy="259022"/>
            </a:xfrm>
            <a:prstGeom prst="ellipse">
              <a:avLst/>
            </a:prstGeom>
            <a:solidFill>
              <a:schemeClr val="bg1">
                <a:lumMod val="50000"/>
                <a:alpha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grpSp>
          <p:nvGrpSpPr>
            <p:cNvPr id="220" name="그룹 219"/>
            <p:cNvGrpSpPr/>
            <p:nvPr/>
          </p:nvGrpSpPr>
          <p:grpSpPr>
            <a:xfrm>
              <a:off x="7597275" y="3605282"/>
              <a:ext cx="86399" cy="117715"/>
              <a:chOff x="7381864" y="2724727"/>
              <a:chExt cx="387905" cy="477367"/>
            </a:xfrm>
          </p:grpSpPr>
          <p:sp>
            <p:nvSpPr>
              <p:cNvPr id="221" name="직사각형 220"/>
              <p:cNvSpPr/>
              <p:nvPr/>
            </p:nvSpPr>
            <p:spPr>
              <a:xfrm>
                <a:off x="7381864" y="2724727"/>
                <a:ext cx="129294" cy="4773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" name="직사각형 221"/>
              <p:cNvSpPr/>
              <p:nvPr/>
            </p:nvSpPr>
            <p:spPr>
              <a:xfrm>
                <a:off x="7640475" y="2724727"/>
                <a:ext cx="129294" cy="4773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24" name="직사각형 223"/>
          <p:cNvSpPr/>
          <p:nvPr/>
        </p:nvSpPr>
        <p:spPr>
          <a:xfrm>
            <a:off x="2840483" y="4320364"/>
            <a:ext cx="236859" cy="253836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906DC35-7658-7A22-FADB-5B82CB1060DC}"/>
              </a:ext>
            </a:extLst>
          </p:cNvPr>
          <p:cNvSpPr/>
          <p:nvPr/>
        </p:nvSpPr>
        <p:spPr>
          <a:xfrm>
            <a:off x="7409047" y="0"/>
            <a:ext cx="1796739" cy="712701"/>
          </a:xfrm>
          <a:prstGeom prst="rect">
            <a:avLst/>
          </a:prstGeom>
          <a:solidFill>
            <a:srgbClr val="FF2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x-none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1.1</a:t>
            </a: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[BTOCSITE-22640]</a:t>
            </a:r>
            <a:b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비교하기 버튼 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노출 제외 조건 추가</a:t>
            </a:r>
            <a:endParaRPr kumimoji="1" lang="en-US" altLang="ko-KR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kumimoji="1" lang="en-US" altLang="x-none" sz="4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x-none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[BTOCSITE-22833]</a:t>
            </a:r>
          </a:p>
          <a:p>
            <a:r>
              <a:rPr kumimoji="1" lang="en-US" altLang="x-none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비교하기 버튼 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노출 제외 조건 수정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97D665-C8CA-3764-7DBA-739CD320CDED}"/>
              </a:ext>
            </a:extLst>
          </p:cNvPr>
          <p:cNvSpPr/>
          <p:nvPr/>
        </p:nvSpPr>
        <p:spPr>
          <a:xfrm>
            <a:off x="7409047" y="145521"/>
            <a:ext cx="1800000" cy="401679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x-none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1.5</a:t>
            </a: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[BTOCSITE-29832]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UP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가전 </a:t>
            </a:r>
            <a:r>
              <a:rPr kumimoji="1"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뱃지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노출 로직 수정</a:t>
            </a:r>
          </a:p>
        </p:txBody>
      </p:sp>
      <p:sp>
        <p:nvSpPr>
          <p:cNvPr id="14" name="Google Shape;105;p2">
            <a:extLst>
              <a:ext uri="{FF2B5EF4-FFF2-40B4-BE49-F238E27FC236}">
                <a16:creationId xmlns:a16="http://schemas.microsoft.com/office/drawing/2014/main" id="{DB2C0A92-6571-7705-CC06-FC73776966BC}"/>
              </a:ext>
            </a:extLst>
          </p:cNvPr>
          <p:cNvSpPr/>
          <p:nvPr/>
        </p:nvSpPr>
        <p:spPr>
          <a:xfrm>
            <a:off x="9216150" y="1213687"/>
            <a:ext cx="2975850" cy="690074"/>
          </a:xfrm>
          <a:prstGeom prst="rect">
            <a:avLst/>
          </a:prstGeom>
          <a:solidFill>
            <a:srgbClr val="FF33CC"/>
          </a:solidFill>
          <a:ln w="12700" cap="flat" cmpd="sng">
            <a:solidFill>
              <a:srgbClr val="FF33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ISSUE</a:t>
            </a:r>
          </a:p>
          <a:p>
            <a:pPr marL="85725" indent="-85725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‘</a:t>
            </a:r>
            <a:r>
              <a:rPr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매립배관형</a:t>
            </a:r>
            <a:r>
              <a:rPr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 </a:t>
            </a:r>
            <a:r>
              <a:rPr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에어컨 옵션 데이터 설정 시 </a:t>
            </a:r>
            <a:r>
              <a:rPr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윗첨자</a:t>
            </a:r>
            <a:r>
              <a:rPr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노출 삭제 예정</a:t>
            </a:r>
            <a:r>
              <a:rPr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제품명 수정 필요</a:t>
            </a:r>
            <a:r>
              <a:rPr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85725" indent="-85725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[BTOCSITE-27062] </a:t>
            </a:r>
            <a:r>
              <a:rPr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장바구니 버튼 노출 퍼블리싱 작업 완료 상태 </a:t>
            </a:r>
            <a:r>
              <a:rPr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인사이더</a:t>
            </a:r>
            <a:r>
              <a:rPr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결과 확인 이후 반영여부 결정 </a:t>
            </a:r>
            <a:r>
              <a:rPr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(by. </a:t>
            </a:r>
            <a:r>
              <a:rPr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최송운</a:t>
            </a:r>
            <a:r>
              <a:rPr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책임님</a:t>
            </a:r>
            <a:r>
              <a:rPr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85725" indent="-85725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altLang="ko-KR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6B19F3E-C2DC-4709-ABFC-7C92BF0347D0}"/>
              </a:ext>
            </a:extLst>
          </p:cNvPr>
          <p:cNvSpPr txBox="1"/>
          <p:nvPr/>
        </p:nvSpPr>
        <p:spPr>
          <a:xfrm>
            <a:off x="1802058" y="4418547"/>
            <a:ext cx="622286" cy="20005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B2K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시리즈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0745BEA1-6C94-4AB7-AC35-198038063F52}"/>
              </a:ext>
            </a:extLst>
          </p:cNvPr>
          <p:cNvSpPr/>
          <p:nvPr/>
        </p:nvSpPr>
        <p:spPr>
          <a:xfrm>
            <a:off x="1878138" y="4427571"/>
            <a:ext cx="454237" cy="159968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6571EFAA-A501-4FDF-9AE1-26ADA02403D7}"/>
              </a:ext>
            </a:extLst>
          </p:cNvPr>
          <p:cNvSpPr/>
          <p:nvPr/>
        </p:nvSpPr>
        <p:spPr>
          <a:xfrm>
            <a:off x="7409047" y="293331"/>
            <a:ext cx="1800000" cy="442137"/>
          </a:xfrm>
          <a:prstGeom prst="rect">
            <a:avLst/>
          </a:prstGeom>
          <a:solidFill>
            <a:srgbClr val="7A8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x-none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1.6</a:t>
            </a: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[BTOCSITE-34166]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8900" indent="-88900">
              <a:buClr>
                <a:schemeClr val="bg1"/>
              </a:buClr>
              <a:buFontTx/>
              <a:buChar char="-"/>
            </a:pP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제품명 우측 </a:t>
            </a:r>
            <a:r>
              <a:rPr kumimoji="1"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그룹명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노출 추가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CCD4E36-0BCD-4F18-8271-2887CF4C55F2}"/>
              </a:ext>
            </a:extLst>
          </p:cNvPr>
          <p:cNvSpPr/>
          <p:nvPr/>
        </p:nvSpPr>
        <p:spPr>
          <a:xfrm>
            <a:off x="7409047" y="461086"/>
            <a:ext cx="1800000" cy="511200"/>
          </a:xfrm>
          <a:prstGeom prst="rect">
            <a:avLst/>
          </a:prstGeom>
          <a:solidFill>
            <a:srgbClr val="FF7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x-none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1.7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[BTOCSITE-35421]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다품목할인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내일배송 </a:t>
            </a:r>
            <a:r>
              <a:rPr kumimoji="1"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뱃지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추가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ACCD4E36-0BCD-4F18-8271-2887CF4C55F2}"/>
              </a:ext>
            </a:extLst>
          </p:cNvPr>
          <p:cNvSpPr/>
          <p:nvPr/>
        </p:nvSpPr>
        <p:spPr>
          <a:xfrm>
            <a:off x="7405964" y="673204"/>
            <a:ext cx="1800000" cy="61788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x-none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2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.0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[BTOCSITE-43175]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[</a:t>
            </a:r>
            <a:r>
              <a:rPr kumimoji="1"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인테리어컷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 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영역 </a:t>
            </a:r>
            <a:r>
              <a:rPr kumimoji="1"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디스클레이머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일괄 적용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25042" y="3557059"/>
            <a:ext cx="226376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fontAlgn="base" latinLnBrk="1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※ </a:t>
            </a: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소비자의 이해를 돕기 위해 연출된 이미지입니다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793377" y="3483460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2c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25644916-71EE-4FBE-9355-19BA1123FA76}"/>
              </a:ext>
            </a:extLst>
          </p:cNvPr>
          <p:cNvSpPr/>
          <p:nvPr/>
        </p:nvSpPr>
        <p:spPr>
          <a:xfrm>
            <a:off x="678960" y="3524768"/>
            <a:ext cx="2220711" cy="227506"/>
          </a:xfrm>
          <a:prstGeom prst="rect">
            <a:avLst/>
          </a:prstGeom>
          <a:solidFill>
            <a:schemeClr val="accent6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kumimoji="1" lang="en-US" altLang="x-none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FC81288E-86AB-4B8B-9AE3-D88B92330A60}"/>
              </a:ext>
            </a:extLst>
          </p:cNvPr>
          <p:cNvGrpSpPr/>
          <p:nvPr/>
        </p:nvGrpSpPr>
        <p:grpSpPr>
          <a:xfrm>
            <a:off x="591292" y="1272492"/>
            <a:ext cx="298735" cy="303943"/>
            <a:chOff x="903086" y="1496882"/>
            <a:chExt cx="252000" cy="256393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EC7A3734-56C4-499D-984E-93DA6B6DD8CD}"/>
                </a:ext>
              </a:extLst>
            </p:cNvPr>
            <p:cNvSpPr/>
            <p:nvPr/>
          </p:nvSpPr>
          <p:spPr>
            <a:xfrm>
              <a:off x="903086" y="1501275"/>
              <a:ext cx="252000" cy="252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88DE8FB-75DF-4C07-9CDD-2038C4783BB5}"/>
                </a:ext>
              </a:extLst>
            </p:cNvPr>
            <p:cNvSpPr txBox="1"/>
            <p:nvPr/>
          </p:nvSpPr>
          <p:spPr>
            <a:xfrm>
              <a:off x="933754" y="1496882"/>
              <a:ext cx="190664" cy="241453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700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닷컴</a:t>
              </a:r>
              <a:endParaRPr lang="en-US" altLang="ko-KR" sz="70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ONLY</a:t>
              </a:r>
            </a:p>
          </p:txBody>
        </p: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ACCD4E36-0BCD-4F18-8271-2887CF4C55F2}"/>
              </a:ext>
            </a:extLst>
          </p:cNvPr>
          <p:cNvSpPr/>
          <p:nvPr/>
        </p:nvSpPr>
        <p:spPr>
          <a:xfrm>
            <a:off x="7405964" y="855802"/>
            <a:ext cx="1800000" cy="561295"/>
          </a:xfrm>
          <a:prstGeom prst="rect">
            <a:avLst/>
          </a:prstGeom>
          <a:solidFill>
            <a:srgbClr val="EE87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x-none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2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.4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[BTOCSITE-47092]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닷컴 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ONLY </a:t>
            </a:r>
            <a:r>
              <a:rPr kumimoji="1" lang="ko-KR" altLang="en-US" sz="8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뱃지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적용 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&amp; 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출시일 노출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67ABE2AE-7966-414E-9D09-A28CFF4FE051}"/>
              </a:ext>
            </a:extLst>
          </p:cNvPr>
          <p:cNvSpPr/>
          <p:nvPr/>
        </p:nvSpPr>
        <p:spPr>
          <a:xfrm>
            <a:off x="613057" y="1533152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2d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0D46C5DC-BA3A-4CFC-8CA9-9A1432F7B64C}"/>
              </a:ext>
            </a:extLst>
          </p:cNvPr>
          <p:cNvSpPr/>
          <p:nvPr/>
        </p:nvSpPr>
        <p:spPr>
          <a:xfrm>
            <a:off x="8712471" y="3356303"/>
            <a:ext cx="3173862" cy="483842"/>
          </a:xfrm>
          <a:prstGeom prst="rect">
            <a:avLst/>
          </a:prstGeom>
          <a:solidFill>
            <a:srgbClr val="EE877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V.2.4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ACCD4E36-0BCD-4F18-8271-2887CF4C55F2}"/>
              </a:ext>
            </a:extLst>
          </p:cNvPr>
          <p:cNvSpPr/>
          <p:nvPr/>
        </p:nvSpPr>
        <p:spPr>
          <a:xfrm>
            <a:off x="7405964" y="1036401"/>
            <a:ext cx="1800000" cy="5612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x-none" sz="80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2</a:t>
            </a:r>
            <a:r>
              <a:rPr kumimoji="1" lang="en-US" altLang="ko-KR" sz="80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.9</a:t>
            </a:r>
          </a:p>
          <a:p>
            <a:r>
              <a:rPr kumimoji="1" lang="en-US" altLang="ko-KR" sz="80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en-US" altLang="ko-KR" sz="8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BTOCSITE-51375  </a:t>
            </a:r>
            <a:r>
              <a:rPr lang="en-US" altLang="ko-KR" sz="800"/>
              <a:t>PDP </a:t>
            </a:r>
            <a:r>
              <a:rPr lang="ko-KR" altLang="en-US" sz="800"/>
              <a:t>베스트  순서 표시</a:t>
            </a:r>
            <a:endParaRPr lang="en-US" altLang="ko-KR" sz="8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ACCD4E36-0BCD-4F18-8271-2887CF4C55F2}"/>
              </a:ext>
            </a:extLst>
          </p:cNvPr>
          <p:cNvSpPr/>
          <p:nvPr/>
        </p:nvSpPr>
        <p:spPr>
          <a:xfrm>
            <a:off x="8707746" y="4520009"/>
            <a:ext cx="3117134" cy="5332291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x-none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2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.9</a:t>
            </a:r>
          </a:p>
        </p:txBody>
      </p:sp>
      <p:sp>
        <p:nvSpPr>
          <p:cNvPr id="238" name="직사각형 237"/>
          <p:cNvSpPr/>
          <p:nvPr/>
        </p:nvSpPr>
        <p:spPr>
          <a:xfrm>
            <a:off x="458023" y="4071927"/>
            <a:ext cx="2511697" cy="28720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으뜸효율환급 </a:t>
            </a:r>
            <a:r>
              <a:rPr lang="en-US" altLang="ko-KR" sz="700" dirty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| </a:t>
            </a:r>
            <a:r>
              <a:rPr lang="en-US" altLang="ko-KR" sz="700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TV 1</a:t>
            </a:r>
            <a:r>
              <a:rPr lang="ko-KR" altLang="en-US" sz="700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위</a:t>
            </a:r>
            <a:r>
              <a:rPr lang="ko-KR" altLang="en-US" sz="7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 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|</a:t>
            </a:r>
            <a:r>
              <a:rPr lang="en-US" altLang="ko-KR" sz="7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2023</a:t>
            </a:r>
            <a:r>
              <a:rPr lang="ko-KR" altLang="en-US" sz="700" dirty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년 출시 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|</a:t>
            </a:r>
            <a:r>
              <a:rPr lang="en-US" altLang="ko-KR" sz="7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  </a:t>
            </a:r>
            <a:r>
              <a:rPr lang="ko-KR" altLang="en-US" sz="700" dirty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다품목할인</a:t>
            </a:r>
            <a:r>
              <a:rPr lang="ko-KR" altLang="en-US" sz="7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 </a:t>
            </a:r>
            <a:r>
              <a:rPr lang="en-US" altLang="ko-KR" sz="700" strike="sngStrike" dirty="0">
                <a:solidFill>
                  <a:schemeClr val="bg1">
                    <a:lumMod val="7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|</a:t>
            </a:r>
            <a:r>
              <a:rPr lang="en-US" altLang="ko-KR" sz="700" strike="sngStrike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 </a:t>
            </a:r>
            <a:r>
              <a:rPr lang="en-US" altLang="ko-KR" sz="700" strike="sngStrike" dirty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UP</a:t>
            </a:r>
            <a:r>
              <a:rPr lang="ko-KR" altLang="en-US" sz="700" strike="sngStrike" dirty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가전 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/>
              </a:rPr>
              <a:t>|  </a:t>
            </a:r>
            <a:r>
              <a:rPr lang="ko-KR" altLang="en-US" sz="7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기간 한정 쿠폰 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|</a:t>
            </a:r>
            <a:r>
              <a:rPr lang="en-US" altLang="ko-KR" sz="700" dirty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50</a:t>
            </a:r>
            <a:r>
              <a:rPr lang="ko-KR" altLang="en-US" sz="7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 한정수량 특가</a:t>
            </a:r>
            <a:endParaRPr lang="ko-KR" altLang="en-US" sz="700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Arial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ACCD4E36-0BCD-4F18-8271-2887CF4C55F2}"/>
              </a:ext>
            </a:extLst>
          </p:cNvPr>
          <p:cNvSpPr/>
          <p:nvPr/>
        </p:nvSpPr>
        <p:spPr>
          <a:xfrm>
            <a:off x="448586" y="4088741"/>
            <a:ext cx="2735844" cy="271477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/>
            <a:r>
              <a:rPr kumimoji="1" lang="en-US" altLang="x-none" sz="80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2</a:t>
            </a:r>
            <a:r>
              <a:rPr kumimoji="1" lang="en-US" altLang="ko-KR" sz="80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.9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3D5AB13-BB49-AAF5-9882-E865E3B653C5}"/>
              </a:ext>
            </a:extLst>
          </p:cNvPr>
          <p:cNvSpPr/>
          <p:nvPr/>
        </p:nvSpPr>
        <p:spPr>
          <a:xfrm>
            <a:off x="7405964" y="1217655"/>
            <a:ext cx="1796739" cy="432805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3.2</a:t>
            </a: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[BTOCSITE-73060]</a:t>
            </a:r>
          </a:p>
          <a:p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제품 </a:t>
            </a:r>
            <a:r>
              <a:rPr kumimoji="1"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PDP UI </a:t>
            </a:r>
            <a:r>
              <a:rPr kumimoji="1" lang="ko-KR" altLang="en-US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</a:t>
            </a:r>
            <a:endParaRPr kumimoji="1" lang="en-US" altLang="x-none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379426" y="5823344"/>
            <a:ext cx="3000344" cy="833780"/>
            <a:chOff x="6430288" y="2547803"/>
            <a:chExt cx="3000344" cy="833780"/>
          </a:xfrm>
        </p:grpSpPr>
        <p:sp>
          <p:nvSpPr>
            <p:cNvPr id="214" name="직사각형 213"/>
            <p:cNvSpPr/>
            <p:nvPr/>
          </p:nvSpPr>
          <p:spPr>
            <a:xfrm>
              <a:off x="6430288" y="2547803"/>
              <a:ext cx="3000344" cy="833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127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Light" panose="020B0600000101010101" pitchFamily="50" charset="-127"/>
                <a:ea typeface="LG스마트체 Light" panose="020B0600000101010101" pitchFamily="50" charset="-127"/>
                <a:cs typeface="+mn-cs"/>
              </a:endParaRPr>
            </a:p>
          </p:txBody>
        </p:sp>
        <p:sp>
          <p:nvSpPr>
            <p:cNvPr id="236" name="Like"/>
            <p:cNvSpPr>
              <a:spLocks noChangeAspect="1" noEditPoints="1"/>
            </p:cNvSpPr>
            <p:nvPr/>
          </p:nvSpPr>
          <p:spPr bwMode="auto">
            <a:xfrm>
              <a:off x="6591570" y="3047945"/>
              <a:ext cx="227164" cy="200580"/>
            </a:xfrm>
            <a:custGeom>
              <a:avLst/>
              <a:gdLst>
                <a:gd name="T0" fmla="*/ 174 w 614"/>
                <a:gd name="T1" fmla="*/ 0 h 538"/>
                <a:gd name="T2" fmla="*/ 0 w 614"/>
                <a:gd name="T3" fmla="*/ 174 h 538"/>
                <a:gd name="T4" fmla="*/ 299 w 614"/>
                <a:gd name="T5" fmla="*/ 531 h 538"/>
                <a:gd name="T6" fmla="*/ 307 w 614"/>
                <a:gd name="T7" fmla="*/ 538 h 538"/>
                <a:gd name="T8" fmla="*/ 315 w 614"/>
                <a:gd name="T9" fmla="*/ 531 h 538"/>
                <a:gd name="T10" fmla="*/ 614 w 614"/>
                <a:gd name="T11" fmla="*/ 174 h 538"/>
                <a:gd name="T12" fmla="*/ 440 w 614"/>
                <a:gd name="T13" fmla="*/ 0 h 538"/>
                <a:gd name="T14" fmla="*/ 307 w 614"/>
                <a:gd name="T15" fmla="*/ 65 h 538"/>
                <a:gd name="T16" fmla="*/ 174 w 614"/>
                <a:gd name="T17" fmla="*/ 0 h 538"/>
                <a:gd name="T18" fmla="*/ 174 w 614"/>
                <a:gd name="T19" fmla="*/ 27 h 538"/>
                <a:gd name="T20" fmla="*/ 296 w 614"/>
                <a:gd name="T21" fmla="*/ 93 h 538"/>
                <a:gd name="T22" fmla="*/ 307 w 614"/>
                <a:gd name="T23" fmla="*/ 110 h 538"/>
                <a:gd name="T24" fmla="*/ 318 w 614"/>
                <a:gd name="T25" fmla="*/ 93 h 538"/>
                <a:gd name="T26" fmla="*/ 440 w 614"/>
                <a:gd name="T27" fmla="*/ 27 h 538"/>
                <a:gd name="T28" fmla="*/ 587 w 614"/>
                <a:gd name="T29" fmla="*/ 174 h 538"/>
                <a:gd name="T30" fmla="*/ 307 w 614"/>
                <a:gd name="T31" fmla="*/ 504 h 538"/>
                <a:gd name="T32" fmla="*/ 27 w 614"/>
                <a:gd name="T33" fmla="*/ 174 h 538"/>
                <a:gd name="T34" fmla="*/ 174 w 614"/>
                <a:gd name="T35" fmla="*/ 27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14" h="538">
                  <a:moveTo>
                    <a:pt x="174" y="0"/>
                  </a:moveTo>
                  <a:cubicBezTo>
                    <a:pt x="78" y="0"/>
                    <a:pt x="0" y="78"/>
                    <a:pt x="0" y="174"/>
                  </a:cubicBezTo>
                  <a:cubicBezTo>
                    <a:pt x="0" y="371"/>
                    <a:pt x="223" y="468"/>
                    <a:pt x="299" y="531"/>
                  </a:cubicBezTo>
                  <a:lnTo>
                    <a:pt x="307" y="538"/>
                  </a:lnTo>
                  <a:lnTo>
                    <a:pt x="315" y="531"/>
                  </a:lnTo>
                  <a:cubicBezTo>
                    <a:pt x="391" y="468"/>
                    <a:pt x="614" y="371"/>
                    <a:pt x="614" y="174"/>
                  </a:cubicBezTo>
                  <a:cubicBezTo>
                    <a:pt x="614" y="78"/>
                    <a:pt x="536" y="0"/>
                    <a:pt x="440" y="0"/>
                  </a:cubicBezTo>
                  <a:cubicBezTo>
                    <a:pt x="386" y="0"/>
                    <a:pt x="339" y="26"/>
                    <a:pt x="307" y="65"/>
                  </a:cubicBezTo>
                  <a:cubicBezTo>
                    <a:pt x="275" y="26"/>
                    <a:pt x="228" y="0"/>
                    <a:pt x="174" y="0"/>
                  </a:cubicBezTo>
                  <a:close/>
                  <a:moveTo>
                    <a:pt x="174" y="27"/>
                  </a:moveTo>
                  <a:cubicBezTo>
                    <a:pt x="225" y="27"/>
                    <a:pt x="269" y="53"/>
                    <a:pt x="296" y="93"/>
                  </a:cubicBezTo>
                  <a:lnTo>
                    <a:pt x="307" y="110"/>
                  </a:lnTo>
                  <a:lnTo>
                    <a:pt x="318" y="93"/>
                  </a:lnTo>
                  <a:cubicBezTo>
                    <a:pt x="344" y="53"/>
                    <a:pt x="389" y="27"/>
                    <a:pt x="440" y="27"/>
                  </a:cubicBezTo>
                  <a:cubicBezTo>
                    <a:pt x="521" y="27"/>
                    <a:pt x="587" y="93"/>
                    <a:pt x="587" y="174"/>
                  </a:cubicBezTo>
                  <a:cubicBezTo>
                    <a:pt x="587" y="346"/>
                    <a:pt x="395" y="435"/>
                    <a:pt x="307" y="504"/>
                  </a:cubicBezTo>
                  <a:cubicBezTo>
                    <a:pt x="219" y="435"/>
                    <a:pt x="27" y="346"/>
                    <a:pt x="27" y="174"/>
                  </a:cubicBezTo>
                  <a:cubicBezTo>
                    <a:pt x="27" y="93"/>
                    <a:pt x="92" y="27"/>
                    <a:pt x="174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7" name="직사각형 236"/>
            <p:cNvSpPr/>
            <p:nvPr/>
          </p:nvSpPr>
          <p:spPr>
            <a:xfrm>
              <a:off x="6927182" y="2941855"/>
              <a:ext cx="2454891" cy="39932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구매하기</a:t>
              </a:r>
            </a:p>
          </p:txBody>
        </p:sp>
        <p:grpSp>
          <p:nvGrpSpPr>
            <p:cNvPr id="239" name="그룹 238"/>
            <p:cNvGrpSpPr/>
            <p:nvPr/>
          </p:nvGrpSpPr>
          <p:grpSpPr>
            <a:xfrm>
              <a:off x="6564910" y="2659548"/>
              <a:ext cx="2803853" cy="169277"/>
              <a:chOff x="4865331" y="5574386"/>
              <a:chExt cx="2803853" cy="169277"/>
            </a:xfrm>
          </p:grpSpPr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17615C26-C893-4D50-92F9-AE8927024C58}"/>
                  </a:ext>
                </a:extLst>
              </p:cNvPr>
              <p:cNvSpPr txBox="1"/>
              <p:nvPr/>
            </p:nvSpPr>
            <p:spPr>
              <a:xfrm>
                <a:off x="4865331" y="5595031"/>
                <a:ext cx="50494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9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회원할인가</a:t>
                </a:r>
                <a:endParaRPr lang="en-US" altLang="ko-KR" sz="9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599FB33D-D3A3-4E09-AE94-CFD9B8F30716}"/>
                  </a:ext>
                </a:extLst>
              </p:cNvPr>
              <p:cNvSpPr txBox="1"/>
              <p:nvPr/>
            </p:nvSpPr>
            <p:spPr>
              <a:xfrm>
                <a:off x="6890125" y="5574386"/>
                <a:ext cx="77905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en-US" altLang="ko-KR" sz="1100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9,900,000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LG스마트체 Light" panose="020B0600000101010101" pitchFamily="50" charset="-127"/>
                    <a:ea typeface="LG스마트체 Light" panose="020B0600000101010101" pitchFamily="50" charset="-127"/>
                  </a:rPr>
                  <a:t>원</a:t>
                </a:r>
                <a:endParaRPr lang="en-US" altLang="ko-KR" dirty="0">
                  <a:solidFill>
                    <a:schemeClr val="tx1"/>
                  </a:solidFill>
                  <a:latin typeface="LG스마트체 Light" panose="020B0600000101010101" pitchFamily="50" charset="-127"/>
                  <a:ea typeface="LG스마트체 Light" panose="020B0600000101010101" pitchFamily="50" charset="-127"/>
                </a:endParaRPr>
              </a:p>
            </p:txBody>
          </p:sp>
          <p:sp>
            <p:nvSpPr>
              <p:cNvPr id="244" name="타원 243">
                <a:extLst>
                  <a:ext uri="{FF2B5EF4-FFF2-40B4-BE49-F238E27FC236}">
                    <a16:creationId xmlns:a16="http://schemas.microsoft.com/office/drawing/2014/main" id="{4E7A801F-D579-4499-938E-92591CB573C5}"/>
                  </a:ext>
                </a:extLst>
              </p:cNvPr>
              <p:cNvSpPr/>
              <p:nvPr/>
            </p:nvSpPr>
            <p:spPr>
              <a:xfrm>
                <a:off x="5403376" y="5613900"/>
                <a:ext cx="100761" cy="100761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500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?</a:t>
                </a:r>
                <a:endParaRPr lang="ko-KR" altLang="en-US" sz="5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</p:grpSp>
      <p:sp>
        <p:nvSpPr>
          <p:cNvPr id="6" name="텍스트 개체 틀 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CMPDPG-MN17100</a:t>
            </a:r>
            <a:br>
              <a:rPr lang="en-US" altLang="ko-KR" dirty="0"/>
            </a:br>
            <a:r>
              <a:rPr lang="en-US" altLang="ko-KR" dirty="0"/>
              <a:t>CMPDPG-MN17110</a:t>
            </a:r>
            <a:br>
              <a:rPr lang="en-US" altLang="ko-KR" dirty="0"/>
            </a:br>
            <a:r>
              <a:rPr lang="en-US" altLang="ko-KR" dirty="0"/>
              <a:t>CMPDPG-MN17300</a:t>
            </a:r>
            <a:endParaRPr lang="ko-KR" altLang="en-US" dirty="0"/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827A481B-DFE4-422D-BCDF-246DE1E281FA}"/>
              </a:ext>
            </a:extLst>
          </p:cNvPr>
          <p:cNvSpPr/>
          <p:nvPr/>
        </p:nvSpPr>
        <p:spPr>
          <a:xfrm>
            <a:off x="7406584" y="1373468"/>
            <a:ext cx="1800000" cy="512763"/>
          </a:xfrm>
          <a:prstGeom prst="rect">
            <a:avLst/>
          </a:prstGeom>
          <a:solidFill>
            <a:srgbClr val="A2D0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x-none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</a:t>
            </a:r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4.4</a:t>
            </a: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[BTOCSITE-98109]</a:t>
            </a:r>
            <a:endParaRPr kumimoji="1" lang="en-US" altLang="x-none" sz="8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으뜸효율환급 </a:t>
            </a:r>
            <a:r>
              <a:rPr kumimoji="1" lang="ko-KR" altLang="en-US" sz="800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뱃지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추가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B829B6D9-4105-4B62-A098-8F655C78A834}"/>
              </a:ext>
            </a:extLst>
          </p:cNvPr>
          <p:cNvSpPr/>
          <p:nvPr/>
        </p:nvSpPr>
        <p:spPr>
          <a:xfrm>
            <a:off x="3706147" y="4054775"/>
            <a:ext cx="2720966" cy="2649919"/>
          </a:xfrm>
          <a:prstGeom prst="rect">
            <a:avLst/>
          </a:prstGeom>
          <a:solidFill>
            <a:srgbClr val="A2D0C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V.2.2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BC3BA382-48AD-406F-AF9D-F96102CF9AFD}"/>
              </a:ext>
            </a:extLst>
          </p:cNvPr>
          <p:cNvSpPr/>
          <p:nvPr/>
        </p:nvSpPr>
        <p:spPr>
          <a:xfrm>
            <a:off x="415907" y="3940290"/>
            <a:ext cx="603087" cy="297298"/>
          </a:xfrm>
          <a:prstGeom prst="rect">
            <a:avLst/>
          </a:prstGeom>
          <a:solidFill>
            <a:srgbClr val="A2D0C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V.2.2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7D004D55-F664-4FCA-A67E-61E98E03C31F}"/>
              </a:ext>
            </a:extLst>
          </p:cNvPr>
          <p:cNvSpPr/>
          <p:nvPr/>
        </p:nvSpPr>
        <p:spPr>
          <a:xfrm>
            <a:off x="8707746" y="6362104"/>
            <a:ext cx="3117134" cy="865253"/>
          </a:xfrm>
          <a:prstGeom prst="rect">
            <a:avLst/>
          </a:prstGeom>
          <a:solidFill>
            <a:srgbClr val="A2D0C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V.2.2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078273FC-92CE-4153-989F-20F689119801}"/>
              </a:ext>
            </a:extLst>
          </p:cNvPr>
          <p:cNvSpPr/>
          <p:nvPr/>
        </p:nvSpPr>
        <p:spPr>
          <a:xfrm>
            <a:off x="9545312" y="5181527"/>
            <a:ext cx="734353" cy="186460"/>
          </a:xfrm>
          <a:prstGeom prst="rect">
            <a:avLst/>
          </a:prstGeom>
          <a:solidFill>
            <a:srgbClr val="A2D0C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V.2.2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5FEA4F51-CDA1-422C-A893-C075A2955656}"/>
              </a:ext>
            </a:extLst>
          </p:cNvPr>
          <p:cNvSpPr/>
          <p:nvPr/>
        </p:nvSpPr>
        <p:spPr>
          <a:xfrm>
            <a:off x="7406584" y="1566624"/>
            <a:ext cx="1800000" cy="767927"/>
          </a:xfrm>
          <a:prstGeom prst="rect">
            <a:avLst/>
          </a:prstGeom>
          <a:solidFill>
            <a:srgbClr val="D99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x-none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4.6 </a:t>
            </a: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[BTOCSITE-99487]</a:t>
            </a:r>
            <a:endParaRPr kumimoji="1" lang="en-US" altLang="x-none" sz="8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UP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가전 텍스트 </a:t>
            </a:r>
            <a:r>
              <a:rPr kumimoji="1" lang="ko-KR" altLang="en-US" sz="800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뱃지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제거</a:t>
            </a:r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개수 줄이기 위함</a:t>
            </a:r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[BTOCSITE-91167]</a:t>
            </a: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스펙 기반의 선호도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C2E0573F-9E8A-4858-9EFC-B0E9FA6B44EC}"/>
              </a:ext>
            </a:extLst>
          </p:cNvPr>
          <p:cNvSpPr/>
          <p:nvPr/>
        </p:nvSpPr>
        <p:spPr>
          <a:xfrm>
            <a:off x="2340311" y="3900423"/>
            <a:ext cx="482072" cy="309559"/>
          </a:xfrm>
          <a:prstGeom prst="rect">
            <a:avLst/>
          </a:prstGeom>
          <a:solidFill>
            <a:schemeClr val="accent2">
              <a:lumMod val="60000"/>
              <a:lumOff val="40000"/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V.4.6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419E49E4-843F-4461-816C-DEB30A3C8FF5}"/>
              </a:ext>
            </a:extLst>
          </p:cNvPr>
          <p:cNvSpPr/>
          <p:nvPr/>
        </p:nvSpPr>
        <p:spPr>
          <a:xfrm>
            <a:off x="9092836" y="5204100"/>
            <a:ext cx="482072" cy="309559"/>
          </a:xfrm>
          <a:prstGeom prst="rect">
            <a:avLst/>
          </a:prstGeom>
          <a:solidFill>
            <a:schemeClr val="accent2">
              <a:lumMod val="60000"/>
              <a:lumOff val="40000"/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V.4.6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6802AE01-9F72-4AF2-8559-3B4B70F18760}"/>
              </a:ext>
            </a:extLst>
          </p:cNvPr>
          <p:cNvSpPr/>
          <p:nvPr/>
        </p:nvSpPr>
        <p:spPr>
          <a:xfrm>
            <a:off x="7405964" y="1718358"/>
            <a:ext cx="1800000" cy="107269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Arial"/>
              </a:rPr>
              <a:t>V 4.7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Arial"/>
              </a:rPr>
              <a:t>[BTOCSITE-99085]</a:t>
            </a:r>
            <a:endParaRPr kumimoji="1" lang="en-US" altLang="x-none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  <a:sym typeface="Arial"/>
            </a:endParaRPr>
          </a:p>
          <a:p>
            <a:pPr lvl="0"/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Arial"/>
              </a:rPr>
              <a:t>- </a:t>
            </a:r>
            <a:r>
              <a:rPr kumimoji="1" lang="en-US" altLang="ko-KR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admin </a:t>
            </a:r>
            <a:r>
              <a:rPr kumimoji="1" lang="ko-KR" altLang="en-US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판매상태</a:t>
            </a:r>
            <a:r>
              <a:rPr kumimoji="1" lang="en-US" altLang="ko-KR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8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미판매</a:t>
            </a:r>
            <a:r>
              <a:rPr kumimoji="1" lang="en-US" altLang="ko-KR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kumimoji="1" lang="ko-KR" altLang="en-US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경우에도</a:t>
            </a:r>
            <a:r>
              <a:rPr kumimoji="1" lang="en-US" altLang="ko-KR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1" lang="ko-KR" altLang="en-US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텍스트 </a:t>
            </a:r>
            <a:r>
              <a:rPr kumimoji="1" lang="ko-KR" altLang="en-US" sz="8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뱃지</a:t>
            </a:r>
            <a:r>
              <a:rPr kumimoji="1" lang="en-US" altLang="ko-KR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8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출시년도</a:t>
            </a:r>
            <a:r>
              <a:rPr kumimoji="1" lang="en-US" altLang="ko-KR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kumimoji="1" lang="ko-KR" altLang="en-US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노출로 로직 변경 요청</a:t>
            </a:r>
            <a:endParaRPr kumimoji="1" lang="en-US" altLang="ko-KR" sz="8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[BTOCSITE-100137]</a:t>
            </a:r>
          </a:p>
          <a:p>
            <a:pPr lvl="0"/>
            <a:r>
              <a:rPr kumimoji="1" lang="en-US" altLang="ko-KR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LGE.COM PDP </a:t>
            </a:r>
            <a:r>
              <a:rPr kumimoji="1" lang="ko-KR" altLang="en-US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스펙 용어사전 </a:t>
            </a:r>
            <a:r>
              <a:rPr kumimoji="1" lang="ko-KR" altLang="en-US" sz="8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툴팁</a:t>
            </a:r>
            <a:r>
              <a:rPr kumimoji="1" lang="ko-KR" altLang="en-US" sz="8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컨텐츠 오류 확인 요청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  <a:sym typeface="Arial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2FD88545-257E-4C17-BBA4-ECAACF29AB36}"/>
              </a:ext>
            </a:extLst>
          </p:cNvPr>
          <p:cNvSpPr/>
          <p:nvPr/>
        </p:nvSpPr>
        <p:spPr>
          <a:xfrm>
            <a:off x="8712471" y="9484160"/>
            <a:ext cx="3112410" cy="173408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Arial"/>
              </a:rPr>
              <a:t>V 4.7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  <a:sym typeface="Arial"/>
            </a:endParaRP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07CEEB20-2A23-4991-9E8C-A3ED69B8DF7D}"/>
              </a:ext>
            </a:extLst>
          </p:cNvPr>
          <p:cNvSpPr/>
          <p:nvPr/>
        </p:nvSpPr>
        <p:spPr>
          <a:xfrm>
            <a:off x="2887689" y="3136821"/>
            <a:ext cx="449209" cy="865620"/>
          </a:xfrm>
          <a:prstGeom prst="rect">
            <a:avLst/>
          </a:prstGeom>
          <a:solidFill>
            <a:srgbClr val="00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V.5.0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C72BDD9-2839-4D69-90E5-E693E0F33C91}"/>
              </a:ext>
            </a:extLst>
          </p:cNvPr>
          <p:cNvSpPr txBox="1"/>
          <p:nvPr/>
        </p:nvSpPr>
        <p:spPr>
          <a:xfrm>
            <a:off x="2904966" y="3423838"/>
            <a:ext cx="3930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삭제</a:t>
            </a: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C42B625D-7205-48F8-B889-C12F094BB5EF}"/>
              </a:ext>
            </a:extLst>
          </p:cNvPr>
          <p:cNvSpPr/>
          <p:nvPr/>
        </p:nvSpPr>
        <p:spPr>
          <a:xfrm>
            <a:off x="5876649" y="2849744"/>
            <a:ext cx="311055" cy="651683"/>
          </a:xfrm>
          <a:prstGeom prst="rect">
            <a:avLst/>
          </a:prstGeom>
          <a:solidFill>
            <a:srgbClr val="00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V.5.0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BE9AB7F-374B-4D99-A515-1B01A572D360}"/>
              </a:ext>
            </a:extLst>
          </p:cNvPr>
          <p:cNvSpPr txBox="1"/>
          <p:nvPr/>
        </p:nvSpPr>
        <p:spPr>
          <a:xfrm>
            <a:off x="5824832" y="3044045"/>
            <a:ext cx="3930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삭제</a:t>
            </a: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577C362A-0046-4BF3-95BC-A5A62C6340B5}"/>
              </a:ext>
            </a:extLst>
          </p:cNvPr>
          <p:cNvSpPr/>
          <p:nvPr/>
        </p:nvSpPr>
        <p:spPr>
          <a:xfrm>
            <a:off x="7406584" y="1898325"/>
            <a:ext cx="1800000" cy="892727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x-none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 5.0 </a:t>
            </a: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[BTOCSITE-88928]</a:t>
            </a:r>
            <a:endParaRPr kumimoji="1" lang="en-US" altLang="x-none" sz="8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AR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체험 서비스 종료</a:t>
            </a:r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오브제체험 </a:t>
            </a:r>
            <a:r>
              <a:rPr kumimoji="1" lang="ko-KR" altLang="en-US" sz="800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뱃지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삭제 현행화</a:t>
            </a:r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(BTOCSITE-52092)</a:t>
            </a: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[BTOCSITE-85964]</a:t>
            </a:r>
          </a:p>
          <a:p>
            <a:r>
              <a:rPr kumimoji="1"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- 360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미디어 </a:t>
            </a:r>
            <a:r>
              <a:rPr kumimoji="1" lang="ko-KR" altLang="en-US" sz="800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디스클라이머</a:t>
            </a:r>
            <a:r>
              <a:rPr kumimoji="1"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추가</a:t>
            </a: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CD8C2E2D-285F-4D95-B1C4-7C93D94838EC}"/>
              </a:ext>
            </a:extLst>
          </p:cNvPr>
          <p:cNvSpPr/>
          <p:nvPr/>
        </p:nvSpPr>
        <p:spPr>
          <a:xfrm>
            <a:off x="4336854" y="6245167"/>
            <a:ext cx="1667444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fontAlgn="base" latinLnBrk="1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altLang="ko-KR" sz="500" dirty="0">
                <a:solidFill>
                  <a:schemeClr val="tx1"/>
                </a:solidFill>
                <a:latin typeface="+mn-ea"/>
              </a:rPr>
              <a:t>※ </a:t>
            </a:r>
            <a:r>
              <a:rPr lang="ko-KR" altLang="en-US" sz="500" dirty="0">
                <a:solidFill>
                  <a:schemeClr val="tx1"/>
                </a:solidFill>
                <a:latin typeface="+mn-ea"/>
              </a:rPr>
              <a:t>소비자의 이해를 돕기 위해 연출된 이미지입니다</a:t>
            </a:r>
            <a:r>
              <a:rPr lang="en-US" altLang="ko-KR" sz="5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251" name="타원 250">
            <a:extLst>
              <a:ext uri="{FF2B5EF4-FFF2-40B4-BE49-F238E27FC236}">
                <a16:creationId xmlns:a16="http://schemas.microsoft.com/office/drawing/2014/main" id="{FE915D2E-3F25-4C1F-8A97-4AE9BEB18187}"/>
              </a:ext>
            </a:extLst>
          </p:cNvPr>
          <p:cNvSpPr/>
          <p:nvPr/>
        </p:nvSpPr>
        <p:spPr>
          <a:xfrm>
            <a:off x="4099168" y="6157110"/>
            <a:ext cx="166154" cy="16615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38" dirty="0">
                <a:solidFill>
                  <a:schemeClr val="bg1"/>
                </a:solidFill>
                <a:latin typeface="+mn-ea"/>
              </a:rPr>
              <a:t>2e</a:t>
            </a:r>
            <a:endParaRPr lang="ko-KR" altLang="en-US" sz="738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C71E356B-8A47-4F35-82E1-DCEA00F3EDCB}"/>
              </a:ext>
            </a:extLst>
          </p:cNvPr>
          <p:cNvSpPr/>
          <p:nvPr/>
        </p:nvSpPr>
        <p:spPr>
          <a:xfrm>
            <a:off x="4353535" y="6177797"/>
            <a:ext cx="1639826" cy="295320"/>
          </a:xfrm>
          <a:prstGeom prst="rect">
            <a:avLst/>
          </a:prstGeom>
          <a:solidFill>
            <a:srgbClr val="00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V.5.0</a:t>
            </a: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F29673A3-5E6F-4B88-810E-DC81CB45BBEE}"/>
              </a:ext>
            </a:extLst>
          </p:cNvPr>
          <p:cNvSpPr/>
          <p:nvPr/>
        </p:nvSpPr>
        <p:spPr>
          <a:xfrm>
            <a:off x="8707746" y="3840144"/>
            <a:ext cx="3185629" cy="524379"/>
          </a:xfrm>
          <a:prstGeom prst="rect">
            <a:avLst/>
          </a:prstGeom>
          <a:solidFill>
            <a:srgbClr val="00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700" b="1" dirty="0">
                <a:solidFill>
                  <a:schemeClr val="bg1"/>
                </a:solidFill>
                <a:latin typeface="+mj-ea"/>
              </a:rPr>
              <a:t>V.5.0</a:t>
            </a:r>
          </a:p>
        </p:txBody>
      </p:sp>
    </p:spTree>
    <p:extLst>
      <p:ext uri="{BB962C8B-B14F-4D97-AF65-F5344CB8AC3E}">
        <p14:creationId xmlns:p14="http://schemas.microsoft.com/office/powerpoint/2010/main" val="2572697897"/>
      </p:ext>
    </p:extLst>
  </p:cSld>
  <p:clrMapOvr>
    <a:masterClrMapping/>
  </p:clrMapOvr>
</p:sld>
</file>

<file path=ppt/theme/theme1.xml><?xml version="1.0" encoding="utf-8"?>
<a:theme xmlns:a="http://schemas.openxmlformats.org/drawingml/2006/main" name="7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>
          <a:solidFill>
            <a:srgbClr val="FF0000"/>
          </a:solidFill>
        </a:ln>
      </a:spPr>
      <a:bodyPr rtlCol="0" anchor="ctr"/>
      <a:lstStyle>
        <a:defPPr algn="ctr" fontAlgn="auto">
          <a:spcBef>
            <a:spcPts val="0"/>
          </a:spcBef>
          <a:spcAft>
            <a:spcPts val="0"/>
          </a:spcAft>
          <a:defRPr kumimoji="0" dirty="0" smtClean="0">
            <a:solidFill>
              <a:srgbClr val="FF0000"/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 bwMode="auto">
        <a:noFill/>
        <a:ln w="3175" cap="flat" cmpd="sng" algn="ctr">
          <a:solidFill>
            <a:schemeClr val="bg1">
              <a:lumMod val="6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800" b="0" dirty="0" smtClean="0">
            <a:solidFill>
              <a:schemeClr val="tx1">
                <a:lumMod val="65000"/>
                <a:lumOff val="35000"/>
              </a:schemeClr>
            </a:solidFill>
            <a:ea typeface="맑은 고딕" pitchFamily="50" charset="-127"/>
          </a:defRPr>
        </a:defPPr>
      </a:lstStyle>
    </a:tx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47A157866C0D04BB3E8C2D1E6CA6FE3" ma:contentTypeVersion="24" ma:contentTypeDescription="새 문서를 만듭니다." ma:contentTypeScope="" ma:versionID="2a2ef5f9bb45686cf26389b0cf033193">
  <xsd:schema xmlns:xsd="http://www.w3.org/2001/XMLSchema" xmlns:xs="http://www.w3.org/2001/XMLSchema" xmlns:p="http://schemas.microsoft.com/office/2006/metadata/properties" xmlns:ns2="8238267f-36b4-4322-906d-2f3b73a2e274" xmlns:ns3="1332c4b5-cd8d-4b7b-bfa8-f6676903d6d2" targetNamespace="http://schemas.microsoft.com/office/2006/metadata/properties" ma:root="true" ma:fieldsID="a29d8d7ca27861dcc6fe516481d4b454" ns2:_="" ns3:_="">
    <xsd:import namespace="8238267f-36b4-4322-906d-2f3b73a2e274"/>
    <xsd:import namespace="1332c4b5-cd8d-4b7b-bfa8-f6676903d6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_xad6c__xbd84_" minOccurs="0"/>
                <xsd:element ref="ns2:_xc0ac__xc6a9__xc790_" minOccurs="0"/>
                <xsd:element ref="ns2:_xc140__xba85_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_Flow_SignoffStatu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38267f-36b4-4322-906d-2f3b73a2e2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이미지 태그" ma:readOnly="false" ma:fieldId="{5cf76f15-5ced-4ddc-b409-7134ff3c332f}" ma:taxonomyMulti="true" ma:sspId="7fbd4038-13c0-4266-8e70-5a68fe662a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ad6c__xbd84_" ma:index="23" nillable="true" ma:displayName="구분" ma:default="EPIC" ma:description="과제/CSR/관리" ma:format="Dropdown" ma:internalName="_xad6c__xbd84_">
      <xsd:simpleType>
        <xsd:restriction base="dms:Choice">
          <xsd:enumeration value="EPIC"/>
          <xsd:enumeration value="CSR"/>
          <xsd:enumeration value="관리"/>
          <xsd:enumeration value="기타"/>
          <xsd:enumeration value="선택 항목 5"/>
        </xsd:restriction>
      </xsd:simpleType>
    </xsd:element>
    <xsd:element name="_xc0ac__xc6a9__xc790_" ma:index="24" nillable="true" ma:displayName="주사용자" ma:format="Dropdown" ma:list="UserInfo" ma:SharePointGroup="0" ma:internalName="_xc0ac__xc6a9__xc790_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xc140__xba85_" ma:index="25" nillable="true" ma:displayName="셀명" ma:format="Dropdown" ma:internalName="_xc140__xba85_">
      <xsd:simpleType>
        <xsd:restriction base="dms:Choice">
          <xsd:enumeration value="전시"/>
          <xsd:enumeration value="회원/상품/보유제품"/>
          <xsd:enumeration value="검색"/>
          <xsd:enumeration value="주문"/>
          <xsd:enumeration value="구독/청약"/>
          <xsd:enumeration value="퍼블리싱"/>
          <xsd:enumeration value="FE"/>
          <xsd:enumeration value="DevOps"/>
          <xsd:enumeration value="QC"/>
          <xsd:enumeration value="선택 항목 10"/>
        </xsd:restriction>
      </xsd:simpleType>
    </xsd:element>
    <xsd:element name="_ApprovalAssignedTo" ma:index="26" nillable="true" ma:displayName="승인자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7" nillable="true" ma:displayName="응답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8" nillable="true" ma:displayName="승인 작성자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29" nillable="true" ma:displayName="승인 상태" ma:internalName="_ApprovalStatus" ma:readOnly="true">
      <xsd:simpleType>
        <xsd:restriction base="dms:Unknown"/>
      </xsd:simpleType>
    </xsd:element>
    <xsd:element name="_Flow_SignoffStatus" ma:index="30" nillable="true" ma:displayName="사인 오프 상태" ma:internalName="_x0024_Resources_x003a_core_x002c_Signoff_Status">
      <xsd:simpleType>
        <xsd:restriction base="dms:Text"/>
      </xsd:simpleType>
    </xsd:element>
    <xsd:element name="MediaServiceLocation" ma:index="31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32c4b5-cd8d-4b7b-bfa8-f6676903d6d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dbc6cb1-6911-418e-aaa6-84ab8204b54a}" ma:internalName="TaxCatchAll" ma:showField="CatchAllData" ma:web="1332c4b5-cd8d-4b7b-bfa8-f6676903d6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332c4b5-cd8d-4b7b-bfa8-f6676903d6d2" xsi:nil="true"/>
    <lcf76f155ced4ddcb4097134ff3c332f xmlns="8238267f-36b4-4322-906d-2f3b73a2e274">
      <Terms xmlns="http://schemas.microsoft.com/office/infopath/2007/PartnerControls"/>
    </lcf76f155ced4ddcb4097134ff3c332f>
    <_xc0ac__xc6a9__xc790_ xmlns="8238267f-36b4-4322-906d-2f3b73a2e274">
      <UserInfo>
        <DisplayName/>
        <AccountId xsi:nil="true"/>
        <AccountType/>
      </UserInfo>
    </_xc0ac__xc6a9__xc790_>
    <_xc140__xba85_ xmlns="8238267f-36b4-4322-906d-2f3b73a2e274" xsi:nil="true"/>
    <_xad6c__xbd84_ xmlns="8238267f-36b4-4322-906d-2f3b73a2e274">EPIC</_xad6c__xbd84_>
    <_Flow_SignoffStatus xmlns="8238267f-36b4-4322-906d-2f3b73a2e274" xsi:nil="true"/>
    <_ApprovalAssignedTo xmlns="8238267f-36b4-4322-906d-2f3b73a2e274">
      <UserInfo>
        <DisplayName/>
        <AccountId xsi:nil="true"/>
        <AccountType/>
      </UserInfo>
    </_ApprovalAssignedTo>
    <_ApprovalRespondedBy xmlns="8238267f-36b4-4322-906d-2f3b73a2e274">
      <UserInfo>
        <DisplayName/>
        <AccountId xsi:nil="true"/>
        <AccountType/>
      </UserInfo>
    </_ApprovalRespondedBy>
    <_ApprovalStatus xmlns="8238267f-36b4-4322-906d-2f3b73a2e274">0</_ApprovalStatus>
    <_ApprovalSentBy xmlns="8238267f-36b4-4322-906d-2f3b73a2e274">
      <UserInfo>
        <DisplayName/>
        <AccountId xsi:nil="true"/>
        <AccountType/>
      </UserInfo>
    </_ApprovalSentBy>
  </documentManagement>
</p:properties>
</file>

<file path=customXml/itemProps1.xml><?xml version="1.0" encoding="utf-8"?>
<ds:datastoreItem xmlns:ds="http://schemas.openxmlformats.org/officeDocument/2006/customXml" ds:itemID="{9C21D06C-7593-4A41-9F4E-0842855883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38267f-36b4-4322-906d-2f3b73a2e274"/>
    <ds:schemaRef ds:uri="1332c4b5-cd8d-4b7b-bfa8-f6676903d6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0D0F01-A87D-46D2-A6CC-CB260891DE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675203-AFBE-4F72-8F35-DA6F8B8D3A57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8238267f-36b4-4322-906d-2f3b73a2e274"/>
    <ds:schemaRef ds:uri="1332c4b5-cd8d-4b7b-bfa8-f6676903d6d2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111517</TotalTime>
  <Words>1898</Words>
  <Application>Microsoft Office PowerPoint</Application>
  <PresentationFormat>와이드스크린</PresentationFormat>
  <Paragraphs>478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24" baseType="lpstr">
      <vt:lpstr>Segoe UI</vt:lpstr>
      <vt:lpstr>HY헤드라인M</vt:lpstr>
      <vt:lpstr>LG스마트체 Regular</vt:lpstr>
      <vt:lpstr>Arial</vt:lpstr>
      <vt:lpstr>굴림</vt:lpstr>
      <vt:lpstr>Apple SD 산돌고딕 Neo 일반체</vt:lpstr>
      <vt:lpstr>맑은 고딕</vt:lpstr>
      <vt:lpstr>LG스마트체2.0 SemiBold</vt:lpstr>
      <vt:lpstr>LG스마트체 Light</vt:lpstr>
      <vt:lpstr>LG스마트체2.0 Regular</vt:lpstr>
      <vt:lpstr>Noto Sans Symbols</vt:lpstr>
      <vt:lpstr>LG스마트체 Bold</vt:lpstr>
      <vt:lpstr>돋움</vt:lpstr>
      <vt:lpstr>Quattrocento Sans</vt:lpstr>
      <vt:lpstr>LG Smart_H SemiBold</vt:lpstr>
      <vt:lpstr>LG스마트체 SemiBold</vt:lpstr>
      <vt:lpstr>맑은 고딕</vt:lpstr>
      <vt:lpstr>LG스마트체2.0 Light</vt:lpstr>
      <vt:lpstr>Calibri</vt:lpstr>
      <vt:lpstr>Wingdings 2</vt:lpstr>
      <vt:lpstr>7_디자인 사용자 지정</vt:lpstr>
      <vt:lpstr>일반제품 + 케어십 신청에 따른 프로세스(유상 케어십)</vt:lpstr>
      <vt:lpstr>리뷰 - 제품 카테고리별 평가 항목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문서 가이드</dc:title>
  <dc:creator>단비</dc:creator>
  <cp:lastModifiedBy>서상원</cp:lastModifiedBy>
  <cp:revision>3008</cp:revision>
  <dcterms:created xsi:type="dcterms:W3CDTF">2020-07-23T05:01:58Z</dcterms:created>
  <dcterms:modified xsi:type="dcterms:W3CDTF">2026-03-17T00:51:36Z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0x010100B47A157866C0D04BB3E8C2D1E6CA6FE3</vt:lpwstr>
  </property>
  <property fmtid="{D5CDD505-2E9C-101B-9397-08002B2CF9AE}" pid="3" name="MediaServiceImageTags">
    <vt:lpwstr/>
  </property>
</Properties>
</file>